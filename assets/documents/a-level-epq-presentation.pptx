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2c35a1647e4c30" /><Relationship Type="http://schemas.openxmlformats.org/officeDocument/2006/relationships/extended-properties" Target="/docProps/app.xml" Id="Rb450910ba7c34053" /><Relationship Type="http://schemas.openxmlformats.org/officeDocument/2006/relationships/officeDocument" Target="/ppt/presentation.xml" Id="R2836688c2a3e4f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4ff8d9a08d4489"/>
  </p:sldMasterIdLst>
  <p:notesMasterIdLst>
    <p:notesMasterId xmlns:r="http://schemas.openxmlformats.org/officeDocument/2006/relationships" r:id="R1adaa248842c45d2"/>
  </p:notesMasterIdLst>
  <p:sldIdLst>
    <p:sldId xmlns:r="http://schemas.openxmlformats.org/officeDocument/2006/relationships" id="256" r:id="Rcb5ca876072e4636"/>
    <p:sldId xmlns:r="http://schemas.openxmlformats.org/officeDocument/2006/relationships" id="257" r:id="Raf015be1954144b6"/>
    <p:sldId xmlns:r="http://schemas.openxmlformats.org/officeDocument/2006/relationships" id="258" r:id="R0a11df9ba70e428f"/>
    <p:sldId xmlns:r="http://schemas.openxmlformats.org/officeDocument/2006/relationships" id="259" r:id="R5a80a0705462457a"/>
    <p:sldId xmlns:r="http://schemas.openxmlformats.org/officeDocument/2006/relationships" id="260" r:id="R66ba637c40104227"/>
    <p:sldId xmlns:r="http://schemas.openxmlformats.org/officeDocument/2006/relationships" id="261" r:id="Re9a4335275fe4d5c"/>
    <p:sldId xmlns:r="http://schemas.openxmlformats.org/officeDocument/2006/relationships" id="262" r:id="R61567e5df4b34bb6"/>
    <p:sldId xmlns:r="http://schemas.openxmlformats.org/officeDocument/2006/relationships" id="263" r:id="Rea8fdaafa8764ed8"/>
    <p:sldId xmlns:r="http://schemas.openxmlformats.org/officeDocument/2006/relationships" id="264" r:id="R2917493f459148c1"/>
    <p:sldId xmlns:r="http://schemas.openxmlformats.org/officeDocument/2006/relationships" id="265" r:id="R45bb18d57d884426"/>
    <p:sldId xmlns:r="http://schemas.openxmlformats.org/officeDocument/2006/relationships" id="266" r:id="R215a4ef723724de5"/>
    <p:sldId xmlns:r="http://schemas.openxmlformats.org/officeDocument/2006/relationships" id="267" r:id="R08a873c936c24e23"/>
    <p:sldId xmlns:r="http://schemas.openxmlformats.org/officeDocument/2006/relationships" id="268" r:id="Rc41f2e74bdb7497a"/>
    <p:sldId xmlns:r="http://schemas.openxmlformats.org/officeDocument/2006/relationships" id="269" r:id="Rcf423307aefa4b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41821f56df4931" /><Relationship Type="http://schemas.openxmlformats.org/officeDocument/2006/relationships/slideMaster" Target="/ppt/slideMasters/slideMaster1.xml" Id="R7f4ff8d9a08d4489" /><Relationship Type="http://schemas.openxmlformats.org/officeDocument/2006/relationships/notesMaster" Target="/ppt/notesMasters/notesMaster1.xml" Id="R1adaa248842c45d2" /><Relationship Type="http://schemas.openxmlformats.org/officeDocument/2006/relationships/presProps" Target="/ppt/presProps.xml" Id="Rac64dfa8dafb468b" /><Relationship Type="http://schemas.openxmlformats.org/officeDocument/2006/relationships/tableStyles" Target="/ppt/tableStyles.xml" Id="Reec9efaa63304576" /><Relationship Type="http://schemas.openxmlformats.org/officeDocument/2006/relationships/slide" Target="/ppt/slides/slide1.xml" Id="Rcb5ca876072e4636" /><Relationship Type="http://schemas.openxmlformats.org/officeDocument/2006/relationships/slide" Target="/ppt/slides/slide2.xml" Id="Raf015be1954144b6" /><Relationship Type="http://schemas.openxmlformats.org/officeDocument/2006/relationships/slide" Target="/ppt/slides/slide3.xml" Id="R0a11df9ba70e428f" /><Relationship Type="http://schemas.openxmlformats.org/officeDocument/2006/relationships/slide" Target="/ppt/slides/slide4.xml" Id="R5a80a0705462457a" /><Relationship Type="http://schemas.openxmlformats.org/officeDocument/2006/relationships/slide" Target="/ppt/slides/slide5.xml" Id="R66ba637c40104227" /><Relationship Type="http://schemas.openxmlformats.org/officeDocument/2006/relationships/slide" Target="/ppt/slides/slide6.xml" Id="Re9a4335275fe4d5c" /><Relationship Type="http://schemas.openxmlformats.org/officeDocument/2006/relationships/slide" Target="/ppt/slides/slide7.xml" Id="R61567e5df4b34bb6" /><Relationship Type="http://schemas.openxmlformats.org/officeDocument/2006/relationships/slide" Target="/ppt/slides/slide8.xml" Id="Rea8fdaafa8764ed8" /><Relationship Type="http://schemas.openxmlformats.org/officeDocument/2006/relationships/slide" Target="/ppt/slides/slide9.xml" Id="R2917493f459148c1" /><Relationship Type="http://schemas.openxmlformats.org/officeDocument/2006/relationships/slide" Target="/ppt/slides/slide10.xml" Id="R45bb18d57d884426" /><Relationship Type="http://schemas.openxmlformats.org/officeDocument/2006/relationships/slide" Target="/ppt/slides/slide11.xml" Id="R215a4ef723724de5" /><Relationship Type="http://schemas.openxmlformats.org/officeDocument/2006/relationships/slide" Target="/ppt/slides/slide12.xml" Id="R08a873c936c24e23" /><Relationship Type="http://schemas.openxmlformats.org/officeDocument/2006/relationships/slide" Target="/ppt/slides/slide13.xml" Id="Rc41f2e74bdb7497a" /><Relationship Type="http://schemas.openxmlformats.org/officeDocument/2006/relationships/slide" Target="/ppt/slides/slide14.xml" Id="Rcf423307aefa4b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d6a1fef2c043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43c288c39c459a" /><Relationship Type="http://schemas.openxmlformats.org/officeDocument/2006/relationships/notesMaster" Target="/ppt/notesMasters/notesMaster1.xml" Id="Rd7d4b83e949f45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23b2be5d0a419b" /><Relationship Type="http://schemas.openxmlformats.org/officeDocument/2006/relationships/notesMaster" Target="/ppt/notesMasters/notesMaster1.xml" Id="R0d90f7283c5246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b35167b40d4e3e" /><Relationship Type="http://schemas.openxmlformats.org/officeDocument/2006/relationships/notesMaster" Target="/ppt/notesMasters/notesMaster1.xml" Id="R14d9a064abcd4e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4249974bbc4e70" /><Relationship Type="http://schemas.openxmlformats.org/officeDocument/2006/relationships/notesMaster" Target="/ppt/notesMasters/notesMaster1.xml" Id="R163ed8239ab74f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819acb13054229" /><Relationship Type="http://schemas.openxmlformats.org/officeDocument/2006/relationships/notesMaster" Target="/ppt/notesMasters/notesMaster1.xml" Id="Re4759cac5a074e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d6cb06366547a1" /><Relationship Type="http://schemas.openxmlformats.org/officeDocument/2006/relationships/notesMaster" Target="/ppt/notesMasters/notesMaster1.xml" Id="Rb558acd717874b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b5ef67169c4547" /><Relationship Type="http://schemas.openxmlformats.org/officeDocument/2006/relationships/notesMaster" Target="/ppt/notesMasters/notesMaster1.xml" Id="R58b5ec4164184b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7c9ca1971e4586" /><Relationship Type="http://schemas.openxmlformats.org/officeDocument/2006/relationships/notesMaster" Target="/ppt/notesMasters/notesMaster1.xml" Id="R9ac748582c4f4a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1ccd2de20947b0" /><Relationship Type="http://schemas.openxmlformats.org/officeDocument/2006/relationships/notesMaster" Target="/ppt/notesMasters/notesMaster1.xml" Id="Rc8e2f1c909d047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13c1e7c0dc41d0" /><Relationship Type="http://schemas.openxmlformats.org/officeDocument/2006/relationships/notesMaster" Target="/ppt/notesMasters/notesMaster1.xml" Id="R34b4addfc1854e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f22bbd5f82413c" /><Relationship Type="http://schemas.openxmlformats.org/officeDocument/2006/relationships/notesMaster" Target="/ppt/notesMasters/notesMaster1.xml" Id="R963d2ee1fde946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60274d4bbe45b3" /><Relationship Type="http://schemas.openxmlformats.org/officeDocument/2006/relationships/notesMaster" Target="/ppt/notesMasters/notesMaster1.xml" Id="R1278c539c7054e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693d2580544b0e" /><Relationship Type="http://schemas.openxmlformats.org/officeDocument/2006/relationships/notesMaster" Target="/ppt/notesMasters/notesMaster1.xml" Id="Rd9c0b009af6b48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dffe24e7e04e61" /><Relationship Type="http://schemas.openxmlformats.org/officeDocument/2006/relationships/notesMaster" Target="/ppt/notesMasters/notesMaster1.xml" Id="Ra5418681f30b4c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original question and explain that this is a new standalone investigation; the assessed 2020 submission remains preserved as the historical record.</a:t>
            </a:r>
          </a:p>
          <a:p xmlns:a="http://schemas.openxmlformats.org/drawingml/2006/main">
            <a:r>
              <a:t>The imperfect wording contains the long-term product question: how can protection be practical enough to use and strong enough to matter?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series follows the intellectual lineage, including what changed—not just finished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term security is contextual. A control can reduce risk without making the system permanently safe.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protected boundary first. The same incident can cross all four fields.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title alone does not prove the scope. Ask what the role owns, can change and must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scenario to show overlap without collapsing the fields into synonyms.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reflective rather than dismissive. Show development in judgement and methodology.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survey caveat: unidentified and undisclosed incidents mean prevalence is not a complete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increase to establish urgency, then immediately avoid the false conclusion that every incident means all defence failed.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revised work does not deny mistakes. It widens responsibility to defaults, permissions, interfaces, incentives and recovery.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the old person-versus-machine framing with accountable augmentation.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 was added explicitly in CSF 2.0. Security is an enterprise decision, not only a technical team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real current screens. State that this is a research prototype and generated guidance requires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question, then introduce the next episode.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fc4256bd44b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f9b50c3cae46bb" /><Relationship Type="http://schemas.openxmlformats.org/officeDocument/2006/relationships/slideLayout" Target="/ppt/slideLayouts/slideLayout1.xml" Id="R921b88b2abda48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1b88b2abda48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1eb9c26054b39" /><Relationship Type="http://schemas.openxmlformats.org/officeDocument/2006/relationships/image" Target="/ppt/media/image.png" Id="R9680163dcf294e38" /><Relationship Type="http://schemas.openxmlformats.org/officeDocument/2006/relationships/notesSlide" Target="/ppt/notesSlides/notesSlide1.xml" Id="R823af1d336fe46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b9a75cd424737" /><Relationship Type="http://schemas.openxmlformats.org/officeDocument/2006/relationships/image" Target="/ppt/media/image2.png" Id="R504d065aa1194774" /><Relationship Type="http://schemas.openxmlformats.org/officeDocument/2006/relationships/image" Target="/ppt/media/image3.png" Id="Ra0d7010bb8214d38" /><Relationship Type="http://schemas.openxmlformats.org/officeDocument/2006/relationships/image" Target="/ppt/media/image4.png" Id="Re003de17efce46de" /><Relationship Type="http://schemas.openxmlformats.org/officeDocument/2006/relationships/notesSlide" Target="/ppt/notesSlides/notesSlide2.xml" Id="R6e39ce04bcab48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1818de6bd463a" /><Relationship Type="http://schemas.openxmlformats.org/officeDocument/2006/relationships/notesSlide" Target="/ppt/notesSlides/notesSlide3.xml" Id="R4f8ccc3297f84a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6ab12979f4962" /><Relationship Type="http://schemas.openxmlformats.org/officeDocument/2006/relationships/image" Target="/ppt/media/image5.png" Id="Rdc1c71c478a1418e" /><Relationship Type="http://schemas.openxmlformats.org/officeDocument/2006/relationships/notesSlide" Target="/ppt/notesSlides/notesSlide4.xml" Id="Rbb8747b8042a43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f33147c4d4d07" /><Relationship Type="http://schemas.openxmlformats.org/officeDocument/2006/relationships/notesSlide" Target="/ppt/notesSlides/notesSlide5.xml" Id="Rffb48c86dcef48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bfd026214430e" /><Relationship Type="http://schemas.openxmlformats.org/officeDocument/2006/relationships/notesSlide" Target="/ppt/notesSlides/notesSlide6.xml" Id="R034092f5764b4d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207f452ab4566" /><Relationship Type="http://schemas.openxmlformats.org/officeDocument/2006/relationships/image" Target="/ppt/media/image6.png" Id="R76e423c41e5c44f2" /><Relationship Type="http://schemas.openxmlformats.org/officeDocument/2006/relationships/image" Target="/ppt/media/image7.png" Id="Rc1cbd37262ae49f9" /><Relationship Type="http://schemas.openxmlformats.org/officeDocument/2006/relationships/notesSlide" Target="/ppt/notesSlides/notesSlide7.xml" Id="Raed9126254944d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c54169d9e45ac" /><Relationship Type="http://schemas.openxmlformats.org/officeDocument/2006/relationships/notesSlide" Target="/ppt/notesSlides/notesSlide8.xml" Id="R1a05ffcba0624c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9acbc56d241ac" /><Relationship Type="http://schemas.openxmlformats.org/officeDocument/2006/relationships/chart" Target="/ppt/slides/charts/chart1.xml" Id="R255e6affb1a045ac" /><Relationship Type="http://schemas.openxmlformats.org/officeDocument/2006/relationships/notesSlide" Target="/ppt/notesSlides/notesSlide9.xml" Id="Rb049278376044c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4a3b8e666494b" /><Relationship Type="http://schemas.openxmlformats.org/officeDocument/2006/relationships/image" Target="/ppt/media/image8.png" Id="Rff9ca94dd53d46e1" /><Relationship Type="http://schemas.openxmlformats.org/officeDocument/2006/relationships/notesSlide" Target="/ppt/notesSlides/notesSlide10.xml" Id="R66625ffa556e4f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26d78d82a423c" /><Relationship Type="http://schemas.openxmlformats.org/officeDocument/2006/relationships/notesSlide" Target="/ppt/notesSlides/notesSlide11.xml" Id="Rddb18e090b1340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a2888edda460c" /><Relationship Type="http://schemas.openxmlformats.org/officeDocument/2006/relationships/notesSlide" Target="/ppt/notesSlides/notesSlide12.xml" Id="R91137bedd80b49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2bf2b4ba14d9b" /><Relationship Type="http://schemas.openxmlformats.org/officeDocument/2006/relationships/image" Target="/ppt/media/image9.png" Id="R524db22c70ca44d7" /><Relationship Type="http://schemas.openxmlformats.org/officeDocument/2006/relationships/image" Target="/ppt/media/image10.png" Id="Rdde77bad22ac464b" /><Relationship Type="http://schemas.openxmlformats.org/officeDocument/2006/relationships/image" Target="/ppt/media/image11.png" Id="R9ce85b34d8c74324" /><Relationship Type="http://schemas.openxmlformats.org/officeDocument/2006/relationships/notesSlide" Target="/ppt/notesSlides/notesSlide13.xml" Id="R4a6af77db5d24c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a3e9279524533" /><Relationship Type="http://schemas.openxmlformats.org/officeDocument/2006/relationships/notesSlide" Target="/ppt/notesSlides/notesSlide14.xml" Id="R05f95fd2315e424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Incidents</c:v>
          </c:tx>
          <c:spPr>
            <a:solidFill xmlns:a="http://schemas.openxmlformats.org/drawingml/2006/main">
              <a:srgbClr val="14B8A6"/>
            </a:solidFill>
          </c:spPr>
          <c:cat>
            <c:strLit>
              <c:ptCount val="2"/>
              <c:pt idx="0">
                <c:v>2023–24</c:v>
              </c:pt>
              <c:pt idx="1">
                <c:v>2024–25</c:v>
              </c:pt>
            </c:strLit>
          </c:cat>
          <c:val>
            <c:numLit>
              <c:formatCode>General</c:formatCode>
              <c:ptCount val="2"/>
              <c:pt idx="0">
                <c:v>89</c:v>
              </c:pt>
              <c:pt idx="1">
                <c:v>204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75351-A01F-479D-A996-DE855863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NOTES / EPISODE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7CEFC-9995-48A8-8659-6B5D8343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533400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Can cybersecurity keep pace with modern digital risk?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1A375-BD56-4B23-AF76-04F1163A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5143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A new 2026 investigation built from my first A-level dissertation—and the question that led towards safer product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F2033-7095-4399-8170-88D30657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Nathan Brown-Bennett  ·  Revised July 2026</a:t>
            </a:r>
          </a:p>
        </p:txBody>
      </p:sp>
      <p:sp>
        <p:nvSpPr>
          <p:cNvPr id="5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F0B68708-978F-450A-AD75-7E2DD822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6" name="source-1">
            <a:extLst xmlns:a="http://schemas.openxmlformats.org/drawingml/2006/main">
              <a:ext uri="{FF2B5EF4-FFF2-40B4-BE49-F238E27FC236}">
                <a16:creationId xmlns:a16="http://schemas.microsoft.com/office/drawing/2014/main" id="{C5AB6392-8C45-4BDE-BAA5-4D91B98C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4072699C-25B2-4CAF-B17C-FCC70485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0163dcf294e38"/>
          <a:stretch xmlns:a="http://schemas.openxmlformats.org/drawingml/2006/main"/>
        </p:blipFill>
        <p:spPr>
          <a:xfrm xmlns:a="http://schemas.openxmlformats.org/drawingml/2006/main">
            <a:off x="7184536" y="590550"/>
            <a:ext cx="3690328" cy="5219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548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ECE4F01C-F733-4CAA-B651-560D5BAD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One question became a research-to-product thread</a:t>
            </a:r>
          </a:p>
        </p:txBody>
      </p:sp>
      <p:sp>
        <p:nvSpPr>
          <p:cNvPr id="2" name="source-2">
            <a:extLst xmlns:a="http://schemas.openxmlformats.org/drawingml/2006/main">
              <a:ext uri="{FF2B5EF4-FFF2-40B4-BE49-F238E27FC236}">
                <a16:creationId xmlns:a16="http://schemas.microsoft.com/office/drawing/2014/main" id="{FD41CD31-1898-416D-AA34-0EA4EAC2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3C0B3A2C-F3E7-441F-B198-A66869DA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4" name="epq-artifact-frame">
            <a:extLst xmlns:a="http://schemas.openxmlformats.org/drawingml/2006/main">
              <a:ext uri="{FF2B5EF4-FFF2-40B4-BE49-F238E27FC236}">
                <a16:creationId xmlns:a16="http://schemas.microsoft.com/office/drawing/2014/main" id="{C3398C91-213A-4A5D-B49B-01CE215D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3238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5" name="undergrad-artifact-frame">
            <a:extLst xmlns:a="http://schemas.openxmlformats.org/drawingml/2006/main">
              <a:ext uri="{FF2B5EF4-FFF2-40B4-BE49-F238E27FC236}">
                <a16:creationId xmlns:a16="http://schemas.microsoft.com/office/drawing/2014/main" id="{7D458F7B-B445-4929-9382-5EDA35BB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04900"/>
            <a:ext cx="3238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6" name="product-artifact-frame">
            <a:extLst xmlns:a="http://schemas.openxmlformats.org/drawingml/2006/main">
              <a:ext uri="{FF2B5EF4-FFF2-40B4-BE49-F238E27FC236}">
                <a16:creationId xmlns:a16="http://schemas.microsoft.com/office/drawing/2014/main" id="{DD5F596E-B6AC-4B06-A2BE-83B5050F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04900"/>
            <a:ext cx="3238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1E5A0-841C-42B1-B6A3-4E32D45C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032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92574-AEAE-4BD8-B143-463CC062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95122-092B-4D97-B939-6749DC74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14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6721A-EEA2-4E4B-8CC5-59D06377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14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31743-7A1F-413D-B19D-D2CC8799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2020 / A-LEVEL EPQ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8A141-D8B1-42D0-96A1-06DB2931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UNDERGRADUATE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B1C03-A466-4602-A7DA-B7C91004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WORKING PRODUCT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7C352-E7E4-4EDF-AFF6-6CFED9E6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3143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Why is protection hard to understand and apply?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39CB0-A0D1-4E01-BDF3-841B8A45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3143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“How do we decide what we provide?”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35BB3-B6CA-4861-BA06-D93BFAD2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3143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Device Provisioning Toolkit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5A763-DC53-4608-BEEF-E71EBE97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A broad question about effective security.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A4721-4214-40F6-B6D3-444A16AD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86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A focused study of evidence and device choice.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E97E0-602B-4C9B-8DB4-78E97DF2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00550"/>
            <a:ext cx="31432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A repeatable workflow for discovery, comparison and hardening.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d065aa1194774"/>
          <a:stretch xmlns:a="http://schemas.openxmlformats.org/drawingml/2006/main"/>
        </p:blipFill>
        <p:spPr>
          <a:xfrm xmlns:a="http://schemas.openxmlformats.org/drawingml/2006/main">
            <a:off x="1665484" y="1200150"/>
            <a:ext cx="1050531" cy="148590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7010bb8214d38"/>
          <a:stretch xmlns:a="http://schemas.openxmlformats.org/drawingml/2006/main"/>
        </p:blipFill>
        <p:spPr>
          <a:xfrm xmlns:a="http://schemas.openxmlformats.org/drawingml/2006/main">
            <a:off x="5570415" y="1200150"/>
            <a:ext cx="1051169" cy="148590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3de17efce46de"/>
          <a:srcRect xmlns:a="http://schemas.openxmlformats.org/drawingml/2006/main" l="0" t="19720" r="0" b="19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1200150"/>
            <a:ext cx="3048000" cy="1485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695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3">
            <a:extLst xmlns:a="http://schemas.openxmlformats.org/drawingml/2006/main">
              <a:ext uri="{FF2B5EF4-FFF2-40B4-BE49-F238E27FC236}">
                <a16:creationId xmlns:a16="http://schemas.microsoft.com/office/drawing/2014/main" id="{F53A5FD6-9FBB-41A9-B7E9-B8E105FE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Security is managed harm reduction—not a guarantee</a:t>
            </a:r>
          </a:p>
        </p:txBody>
      </p:sp>
      <p:sp>
        <p:nvSpPr>
          <p:cNvPr id="2" name="source-3">
            <a:extLst xmlns:a="http://schemas.openxmlformats.org/drawingml/2006/main">
              <a:ext uri="{FF2B5EF4-FFF2-40B4-BE49-F238E27FC236}">
                <a16:creationId xmlns:a16="http://schemas.microsoft.com/office/drawing/2014/main" id="{F04F8E35-48FC-4E04-AB76-3484C711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40BA94E2-C53C-46C2-9DA0-6BFC29D4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857DA-4C72-4038-A274-19AAA131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7152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A security decision identifies something of value, the threats and weaknesses that could affect it, the likely consequence, and the controls proportionate to that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0022A-79FD-4DEF-8034-A50DB3BA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906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A practical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A2D60-0CF4-4D24-BA80-280BC53E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9527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What are we protecting?
From which harm?
Who owns the decision?
How will we know the control works?
What happens when it fails?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C7F31-AB07-47A5-97E8-405D8920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AC046-82F3-47E2-900C-0ADE7C4C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CONFIDENTIALITY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A8F1A-D90A-4C6B-86BD-45903DAF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2095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Prevent unauthorised disclosure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B15FF-083F-44F9-A1FC-DD0356AC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196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INTEGRITY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20EBB-7110-41E0-8F90-2006CA88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19650"/>
            <a:ext cx="2000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Prevent unauthorised 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DD425-8502-41BE-8917-300AF0D8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196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AVAILABILITY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85FB0-B645-4660-B285-A732A93C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19650"/>
            <a:ext cx="2095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Keep authorised access and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841EC-5146-4AB2-A910-F008BEC8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196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RESILIENCE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F21D1-7086-460E-B652-89374F20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19650"/>
            <a:ext cx="2095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Contain disruption and restore trust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DDED5-AD9D-4B89-8CE5-1F0A1B72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D883A-CF87-4AE5-8622-966D9875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819650"/>
            <a:ext cx="1809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Add safety, privacy, authenticity and accountability where needed</a:t>
            </a:r>
          </a:p>
        </p:txBody>
      </p:sp>
    </p:spTree>
    <p:extLst>
      <p:ext uri="{BB962C8B-B14F-4D97-AF65-F5344CB8AC3E}">
        <p14:creationId xmlns:p14="http://schemas.microsoft.com/office/powerpoint/2010/main" val="1385820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-4">
            <a:extLst xmlns:a="http://schemas.openxmlformats.org/drawingml/2006/main">
              <a:ext uri="{FF2B5EF4-FFF2-40B4-BE49-F238E27FC236}">
                <a16:creationId xmlns:a16="http://schemas.microsoft.com/office/drawing/2014/main" id="{6B8A1845-244D-4403-99AE-D16C4288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The security fields overlap—but protect different boundaries</a:t>
            </a:r>
          </a:p>
        </p:txBody>
      </p:sp>
      <p:sp>
        <p:nvSpPr>
          <p:cNvPr id="2" name="source-4">
            <a:extLst xmlns:a="http://schemas.openxmlformats.org/drawingml/2006/main">
              <a:ext uri="{FF2B5EF4-FFF2-40B4-BE49-F238E27FC236}">
                <a16:creationId xmlns:a16="http://schemas.microsoft.com/office/drawing/2014/main" id="{4A80C88B-18F7-4C23-8B76-A8CCD22A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von Solms &amp; van Niekerk (2013); NIST CSF 2.0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4E0DD1CB-F530-4C75-A84F-2CE08805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D2B7A-C5DB-4A1B-9970-885143C8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FIELD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B13BB-A276-4FAC-B728-37397D3B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144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PRIMARY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9CF81-B8AE-4DA5-85A5-D98C0B90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3144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WHAT IT HANDLES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01543-E812-4023-BF49-5E05DAB5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65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7F6EA-5D47-4D2B-BD3D-6E45CE7F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809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Computer security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A3CDB-B6F1-49BA-8DBA-C36FD5CD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90700"/>
            <a:ext cx="2476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One device or computing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03D57-7759-4802-A61C-60D71D3F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90700"/>
            <a:ext cx="2857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OS, software, memory, storage, local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C1DC3-A4E7-4AD8-89DB-A7638394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765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A7A59-D4FA-4658-A739-43BF73F3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1809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IT security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9D93B-CA67-4AFE-ADA6-E75E466B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2476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An organisation’s technology estate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DBD12-6450-4E70-9816-8C387B14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2857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Devices, identities, networks, cloud, applications, backups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ACE2C-066A-4209-AB96-0D689CB3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765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71853-5FD3-489A-B2F1-496D9060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1809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Information 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E9E1E-3BBE-4008-BC53-759F4C62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71900"/>
            <a:ext cx="2476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Information in any 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DBEE3-E48C-46B2-B3F4-5A52FF2A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71900"/>
            <a:ext cx="2857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Digital, paper or spoken information; confidentiality, integrity, availability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F05F7-CFB4-4264-A11C-C4C5ED8D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765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84FCBD-1548-46DD-9A5D-1D46D8C7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809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Cybersecurity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28ABF-64D7-4874-9FD6-C9A33BC0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2476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Harm through connected digital systems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C4BB2-5F03-4473-945F-5460028B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62500"/>
            <a:ext cx="2857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Technology, information, people, services and physical processes</a:t>
            </a:r>
          </a:p>
        </p:txBody>
      </p:sp>
      <p:sp>
        <p:nvSpPr>
          <p:cNvPr id="23" name="field-appendix-frame">
            <a:extLst xmlns:a="http://schemas.openxmlformats.org/drawingml/2006/main">
              <a:ext uri="{FF2B5EF4-FFF2-40B4-BE49-F238E27FC236}">
                <a16:creationId xmlns:a16="http://schemas.microsoft.com/office/drawing/2014/main" id="{E261B6F0-274B-48F3-9B25-32B52903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14450"/>
            <a:ext cx="3181350" cy="43624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4E29F6-8DB8-4729-B7FF-1E87826F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1025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2026 DISSERTATION / APPENDIX 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C4BB5D-B081-4BFB-A467-47A820A5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765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The labels clarify ownership. They should not create silos.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c71c478a1418e"/>
          <a:stretch xmlns:a="http://schemas.openxmlformats.org/drawingml/2006/main"/>
        </p:blipFill>
        <p:spPr>
          <a:xfrm xmlns:a="http://schemas.openxmlformats.org/drawingml/2006/main">
            <a:off x="8549459" y="1428750"/>
            <a:ext cx="2922632" cy="413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5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5">
            <a:extLst xmlns:a="http://schemas.openxmlformats.org/drawingml/2006/main">
              <a:ext uri="{FF2B5EF4-FFF2-40B4-BE49-F238E27FC236}">
                <a16:creationId xmlns:a16="http://schemas.microsoft.com/office/drawing/2014/main" id="{00BC0590-F168-44E8-8B9C-0F5035C1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Roles are organised around outputs—not universal job titles</a:t>
            </a:r>
          </a:p>
        </p:txBody>
      </p:sp>
      <p:sp>
        <p:nvSpPr>
          <p:cNvPr id="2" name="source-5">
            <a:extLst xmlns:a="http://schemas.openxmlformats.org/drawingml/2006/main">
              <a:ext uri="{FF2B5EF4-FFF2-40B4-BE49-F238E27FC236}">
                <a16:creationId xmlns:a16="http://schemas.microsoft.com/office/drawing/2014/main" id="{5D176044-3006-4A9E-A24D-724786EB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4063DC28-7B9C-4E65-8BCE-7C48050E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8C845-1DDD-44CF-9554-28E264BD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FIELD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55650-28D8-4319-9E59-B42BAFBB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276350"/>
            <a:ext cx="4095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TYPICAL ROLES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2EAE7-A1F0-457E-A007-1BA1F95B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27635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ACCOUNTABLE OUTPUTS</a:t>
            </a:r>
          </a:p>
        </p:txBody>
      </p:sp>
      <p:sp>
        <p:nvSpPr>
          <p:cNvPr id="7" name="role-row-0">
            <a:extLst xmlns:a="http://schemas.openxmlformats.org/drawingml/2006/main">
              <a:ext uri="{FF2B5EF4-FFF2-40B4-BE49-F238E27FC236}">
                <a16:creationId xmlns:a16="http://schemas.microsoft.com/office/drawing/2014/main" id="{50499E5D-E659-4863-9C0E-77C910C8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029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CC117-482F-4EDF-80B4-D2923458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Computer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48F57-1D59-4169-B358-47A4D5FE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71650"/>
            <a:ext cx="4000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Endpoint / platform engineer
OS specialist · malware analyst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F10BE-B4A8-4FA2-A070-093F5900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148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Hardened builds · patch baselines
endpoint controls · findings</a:t>
            </a:r>
          </a:p>
        </p:txBody>
      </p:sp>
      <p:sp>
        <p:nvSpPr>
          <p:cNvPr id="11" name="role-row-1">
            <a:extLst xmlns:a="http://schemas.openxmlformats.org/drawingml/2006/main">
              <a:ext uri="{FF2B5EF4-FFF2-40B4-BE49-F238E27FC236}">
                <a16:creationId xmlns:a16="http://schemas.microsoft.com/office/drawing/2014/main" id="{85F10097-C15F-46C8-9770-88684F23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1029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B54C7-08A8-46DE-9D97-4DD482B4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DD0D5-73E6-4435-B366-5AB4B5AD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00350"/>
            <a:ext cx="4000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Security analyst · IAM specialist
network / cloud security engineer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F7B50-E75E-48A9-BC7F-83363EF6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45148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Managed access · architecture
monitoring · backup · recovery</a:t>
            </a:r>
          </a:p>
        </p:txBody>
      </p:sp>
      <p:sp>
        <p:nvSpPr>
          <p:cNvPr id="15" name="role-row-2">
            <a:extLst xmlns:a="http://schemas.openxmlformats.org/drawingml/2006/main">
              <a:ext uri="{FF2B5EF4-FFF2-40B4-BE49-F238E27FC236}">
                <a16:creationId xmlns:a16="http://schemas.microsoft.com/office/drawing/2014/main" id="{3CE220EA-4BFB-4A68-B6D4-60B38DCF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1029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BC43B-0A60-496E-BF95-78E4DD41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Information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944B7-2664-4AE3-97EF-B3896369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29050"/>
            <a:ext cx="4000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Security manager · risk specialist
governance lead · asset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59678-4C5D-4D04-A6AB-E5172401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29050"/>
            <a:ext cx="45148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Classification · risk treatment
policy · assurance · audit evidence</a:t>
            </a:r>
          </a:p>
        </p:txBody>
      </p:sp>
      <p:sp>
        <p:nvSpPr>
          <p:cNvPr id="19" name="role-row-3">
            <a:extLst xmlns:a="http://schemas.openxmlformats.org/drawingml/2006/main">
              <a:ext uri="{FF2B5EF4-FFF2-40B4-BE49-F238E27FC236}">
                <a16:creationId xmlns:a16="http://schemas.microsoft.com/office/drawing/2014/main" id="{6E5FBF5A-2DDD-4681-97B4-06851413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11029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C54933-84A7-49E6-AF02-19488670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Cyber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80634-066B-4F53-B595-09DD3209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57750"/>
            <a:ext cx="4000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SOC analyst · incident responder
threat intel · pentest · AppSec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6FA3B8-A114-41F9-AD11-076FA44A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0"/>
            <a:ext cx="45148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Threat-led defence · detection
containment · testing · improvement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BFA86B-414C-458B-824B-4E3F2C0C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76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Small organisations may combine every duty in one IT role; larger organisations may split one duty across several teams.</a:t>
            </a:r>
          </a:p>
        </p:txBody>
      </p:sp>
    </p:spTree>
    <p:extLst>
      <p:ext uri="{BB962C8B-B14F-4D97-AF65-F5344CB8AC3E}">
        <p14:creationId xmlns:p14="http://schemas.microsoft.com/office/powerpoint/2010/main" val="16002053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6">
            <a:extLst xmlns:a="http://schemas.openxmlformats.org/drawingml/2006/main">
              <a:ext uri="{FF2B5EF4-FFF2-40B4-BE49-F238E27FC236}">
                <a16:creationId xmlns:a16="http://schemas.microsoft.com/office/drawing/2014/main" id="{F3320E03-67E9-497D-B515-0378D4E1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One stolen credential creates four connected questions</a:t>
            </a:r>
          </a:p>
        </p:txBody>
      </p:sp>
      <p:sp>
        <p:nvSpPr>
          <p:cNvPr id="2" name="source-6">
            <a:extLst xmlns:a="http://schemas.openxmlformats.org/drawingml/2006/main">
              <a:ext uri="{FF2B5EF4-FFF2-40B4-BE49-F238E27FC236}">
                <a16:creationId xmlns:a16="http://schemas.microsoft.com/office/drawing/2014/main" id="{58648BEA-4AE8-4E2F-A5BA-933EC0CF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8F9AA08E-E212-4DF4-AC88-4FB51C45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30853-BCAA-4D11-8C82-44141A0D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057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Scenario: a staff laptop is compromised through a stolen cloud credential.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F41D2-6B09-4031-B0C9-5DC7DE24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90C01-8713-4E9D-864C-5E7A65E2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62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CBB0B-EB8E-4D3E-8A10-C3ED307F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62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7B8E8-7485-4041-9CCA-87E9E64C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62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45E4B-BACA-44EF-8B13-B1AAB2F5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62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23B5A-440B-4983-A8EA-4D7AA931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COMPUTER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BD028-7622-467F-A682-9876D19F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2247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Was the endpoint patched, hardened and able to isolate activity?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33563-B8A8-47A5-B43C-9203CBF6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78A7E-C944-47B0-95C3-BF9CD5E0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86150"/>
            <a:ext cx="2247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How were the identity, device, network and cloud service administered?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B8C41-4D03-44A6-9CE9-238C3D73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INFORMATION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68108-CB53-4AC4-850E-28A7A7DB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2247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Which records were exposed, how sensitive were they, and what duties follow?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32518-91F6-4BE7-92C9-97C435A9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CYBER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F0E10-21F3-4725-9707-2FAA57C9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86150"/>
            <a:ext cx="2247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What was the connected attack path, wider harm, containment and recovery?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EF630-A718-487A-AC7F-CCD55B6C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0191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Clear handoffs close the gaps: technical evidence → access revocation → impact assessment → coordinated containment and learning.</a:t>
            </a:r>
          </a:p>
        </p:txBody>
      </p:sp>
    </p:spTree>
    <p:extLst>
      <p:ext uri="{BB962C8B-B14F-4D97-AF65-F5344CB8AC3E}">
        <p14:creationId xmlns:p14="http://schemas.microsoft.com/office/powerpoint/2010/main" val="18554852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7">
            <a:extLst xmlns:a="http://schemas.openxmlformats.org/drawingml/2006/main">
              <a:ext uri="{FF2B5EF4-FFF2-40B4-BE49-F238E27FC236}">
                <a16:creationId xmlns:a16="http://schemas.microsoft.com/office/drawing/2014/main" id="{01E8B602-7B63-4AF9-AD6F-33BD65BA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The original instinct was useful; the diagnosis needed work</a:t>
            </a:r>
          </a:p>
        </p:txBody>
      </p:sp>
      <p:sp>
        <p:nvSpPr>
          <p:cNvPr id="2" name="source-7">
            <a:extLst xmlns:a="http://schemas.openxmlformats.org/drawingml/2006/main">
              <a:ext uri="{FF2B5EF4-FFF2-40B4-BE49-F238E27FC236}">
                <a16:creationId xmlns:a16="http://schemas.microsoft.com/office/drawing/2014/main" id="{E54854D7-3D14-4941-A9E1-D5E00F13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B18F96E6-CF92-4730-9D9D-15123AC6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9B473-8332-4D89-82DC-0D1AAB28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33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WHAT SURVIVED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12BEF-548D-4331-988B-67DE8E98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57300"/>
            <a:ext cx="533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WHAT CHANGED</a:t>
            </a:r>
          </a:p>
        </p:txBody>
      </p:sp>
      <p:sp>
        <p:nvSpPr>
          <p:cNvPr id="6" name="original-page-frame">
            <a:extLst xmlns:a="http://schemas.openxmlformats.org/drawingml/2006/main">
              <a:ext uri="{FF2B5EF4-FFF2-40B4-BE49-F238E27FC236}">
                <a16:creationId xmlns:a16="http://schemas.microsoft.com/office/drawing/2014/main" id="{1775943E-6A85-4D9A-9CAF-1950A17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000250" cy="37338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7" name="new-page-frame">
            <a:extLst xmlns:a="http://schemas.openxmlformats.org/drawingml/2006/main">
              <a:ext uri="{FF2B5EF4-FFF2-40B4-BE49-F238E27FC236}">
                <a16:creationId xmlns:a16="http://schemas.microsoft.com/office/drawing/2014/main" id="{F8599D80-8570-4082-A0F8-77836F0C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2000250" cy="37338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4BD9C-6BD0-436C-B4BB-9C950FD3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24050"/>
            <a:ext cx="3143250" cy="3257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• Perfect security is not operational
• Public understanding matters
• Automation is necessary at scale
• Security connects technology and society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9EA0D-BBCB-4469-B8BE-7C00E660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24050"/>
            <a:ext cx="3048000" cy="3257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• Breaches do not prove defence is useless
• “Human error” signals system design
• AI augments accountable professionals
• The survey was exploratory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0C477-25B7-40C6-9AB6-A073AE6A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2020 submission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A0706-CEA1-4551-BB49-DFB0292C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5310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2026 standalone dissertation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423c41e5c44f2"/>
          <a:stretch xmlns:a="http://schemas.openxmlformats.org/drawingml/2006/main"/>
        </p:blipFill>
        <p:spPr>
          <a:xfrm xmlns:a="http://schemas.openxmlformats.org/drawingml/2006/main">
            <a:off x="495300" y="2301520"/>
            <a:ext cx="1809750" cy="255976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bd37262ae49f9"/>
          <a:stretch xmlns:a="http://schemas.openxmlformats.org/drawingml/2006/main"/>
        </p:blipFill>
        <p:spPr>
          <a:xfrm xmlns:a="http://schemas.openxmlformats.org/drawingml/2006/main">
            <a:off x="6362700" y="2301520"/>
            <a:ext cx="1809750" cy="25597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5777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8">
            <a:extLst xmlns:a="http://schemas.openxmlformats.org/drawingml/2006/main">
              <a:ext uri="{FF2B5EF4-FFF2-40B4-BE49-F238E27FC236}">
                <a16:creationId xmlns:a16="http://schemas.microsoft.com/office/drawing/2014/main" id="{D4C09FD0-1989-47AD-B3EE-665F86F8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The real gap is adoption—not a binary score</a:t>
            </a:r>
          </a:p>
        </p:txBody>
      </p:sp>
      <p:sp>
        <p:nvSpPr>
          <p:cNvPr id="2" name="source-8">
            <a:extLst xmlns:a="http://schemas.openxmlformats.org/drawingml/2006/main">
              <a:ext uri="{FF2B5EF4-FFF2-40B4-BE49-F238E27FC236}">
                <a16:creationId xmlns:a16="http://schemas.microsoft.com/office/drawing/2014/main" id="{F3B7DC09-21A9-4753-90A9-AB69EF7C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DSIT &amp; Home Office, Cyber Security Breaches Survey 2025/2026; NCSC Annual Review 2025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57236B5A-49C5-4B26-B468-97E5874F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D82D4-CD3A-4DDC-A0B6-52E38B0D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Exposure is widespread. Governance and preparation remain inconsistent.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BFBF3-A6A1-44C0-A2C0-946231ED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77BA0-09C6-4A76-8A1F-A2AD7277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714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43%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FF174-A04D-4935-9CB7-6394C9E1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38400"/>
            <a:ext cx="3429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UK businesses identifying a breach or attack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BCAC4-02F3-48B7-A940-6DFDB617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76A23-9114-45BE-A1EF-A919C634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1714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204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F5E2F-124E-4A8A-81A3-2F9EFFAD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38400"/>
            <a:ext cx="3429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nationally significant incidents handled by the NCSC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82B0C-9A46-40D1-A642-E5927DD8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8B5F8-5894-4C19-A0DF-9B650115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1714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C4630-3966-4AF5-821E-0AB3994D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48150"/>
            <a:ext cx="3429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businesses completing a cyber-risk assessment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BAFD7-90FA-40C6-89ED-35BAA924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BD0C5A-2049-4213-A6C5-6F80FEFF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1714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25%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F9977-A9CD-4AF5-911B-C118AFC4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48150"/>
            <a:ext cx="3429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businesses with a formal incident-response plan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CDFFC-17D3-4FF4-B127-67B9E63C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Attack prevalence measures exposure and detection—not the absence of defensive value.</a:t>
            </a:r>
          </a:p>
        </p:txBody>
      </p:sp>
    </p:spTree>
    <p:extLst>
      <p:ext uri="{BB962C8B-B14F-4D97-AF65-F5344CB8AC3E}">
        <p14:creationId xmlns:p14="http://schemas.microsoft.com/office/powerpoint/2010/main" val="9845583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9">
            <a:extLst xmlns:a="http://schemas.openxmlformats.org/drawingml/2006/main">
              <a:ext uri="{FF2B5EF4-FFF2-40B4-BE49-F238E27FC236}">
                <a16:creationId xmlns:a16="http://schemas.microsoft.com/office/drawing/2014/main" id="{4FDA4974-96D6-4C2E-AE9F-BF0B54DC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Nationally significant incidents rose sharply</a:t>
            </a:r>
          </a:p>
        </p:txBody>
      </p:sp>
      <p:sp>
        <p:nvSpPr>
          <p:cNvPr id="2" name="source-9">
            <a:extLst xmlns:a="http://schemas.openxmlformats.org/drawingml/2006/main">
              <a:ext uri="{FF2B5EF4-FFF2-40B4-BE49-F238E27FC236}">
                <a16:creationId xmlns:a16="http://schemas.microsoft.com/office/drawing/2014/main" id="{50B71070-5B35-42BC-B64C-54730267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NCSC Annual Review 2025. Categories and reporting are not a complete census.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C0F0B9EC-5819-426B-8D2E-D0949E70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E1D01-EA73-4F28-AA45-B6744252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2.3×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0675D-D228-47B5-9A82-45B377F4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3143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more nationally significant incidents handled than the previous year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1AB83-3C2A-472C-B7B6-3B102F5A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00550"/>
            <a:ext cx="33337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Pressure increased—but the NCSC also states that many more attacks fail than succeed, and prepared organisations recover better.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90550" y="1466850"/>
          <a:ext xmlns:a="http://schemas.openxmlformats.org/drawingml/2006/main" cx="6667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5e6affb1a045ac"/>
          </a:graphicData>
        </a:graphic>
      </p:graphicFrame>
    </p:spTree>
    <p:extLst>
      <p:ext uri="{BB962C8B-B14F-4D97-AF65-F5344CB8AC3E}">
        <p14:creationId xmlns:p14="http://schemas.microsoft.com/office/powerpoint/2010/main" val="15262340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10">
            <a:extLst xmlns:a="http://schemas.openxmlformats.org/drawingml/2006/main">
              <a:ext uri="{FF2B5EF4-FFF2-40B4-BE49-F238E27FC236}">
                <a16:creationId xmlns:a16="http://schemas.microsoft.com/office/drawing/2014/main" id="{646CB916-2473-4599-9A29-49A7405E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A mistake is a design signal—not the end of the analysis</a:t>
            </a:r>
          </a:p>
        </p:txBody>
      </p:sp>
      <p:sp>
        <p:nvSpPr>
          <p:cNvPr id="2" name="source-10">
            <a:extLst xmlns:a="http://schemas.openxmlformats.org/drawingml/2006/main">
              <a:ext uri="{FF2B5EF4-FFF2-40B4-BE49-F238E27FC236}">
                <a16:creationId xmlns:a16="http://schemas.microsoft.com/office/drawing/2014/main" id="{615DFAF3-9595-49E7-8401-F16196A2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NCSC secure-by-design guidance; Herley (2009)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EFBFA35C-B168-4736-816D-923AF9C2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427A1-95DA-4AE2-939C-87267912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810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If one ordinary action can create catastrophic harm, examine the architecture around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3C995-B3FD-4043-98B5-57DA129F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REDUCE PRIVILEGE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2D89C-023F-4F2B-83F3-306AB466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47950"/>
            <a:ext cx="3333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One account should not expose everything.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DADC3-B312-4836-8D26-5E762F46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USE SAFER DEFAULTS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532BC-CE64-4576-A390-61BB0813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52800"/>
            <a:ext cx="3333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Secure setup should be the easy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E826A-94A6-490B-8B58-C63CC16A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MAKE REPORTING SAFE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AE9DA-B926-4AA4-97D4-1EFE2D5B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57650"/>
            <a:ext cx="3333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Early honesty should reduce harm—not trigger fear.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07D2F-C019-409D-8361-E33DE054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DESIGN RECOVERY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9B67B-BDF0-4479-988C-BD6B1081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3333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Contain failure and restore trusted operation.</a:t>
            </a:r>
          </a:p>
        </p:txBody>
      </p:sp>
      <p:sp>
        <p:nvSpPr>
          <p:cNvPr id="13" name="security-guide-frame">
            <a:extLst xmlns:a="http://schemas.openxmlformats.org/drawingml/2006/main">
              <a:ext uri="{FF2B5EF4-FFF2-40B4-BE49-F238E27FC236}">
                <a16:creationId xmlns:a16="http://schemas.microsoft.com/office/drawing/2014/main" id="{B26B7972-4803-48B2-AB7F-012C1E3C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257300"/>
            <a:ext cx="48768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4764B-9ABB-483C-99A3-495361D2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57850"/>
            <a:ext cx="4876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PRODUCT ARTEFACT / TAILORED SECURITY GUIDE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AD3998-4844-490F-A94B-99E42EBF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571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Training matters. It is not a patch for an unsafe product.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ca94dd53d46e1"/>
          <a:stretch xmlns:a="http://schemas.openxmlformats.org/drawingml/2006/main"/>
        </p:blipFill>
        <p:spPr>
          <a:xfrm xmlns:a="http://schemas.openxmlformats.org/drawingml/2006/main">
            <a:off x="7919721" y="1371600"/>
            <a:ext cx="2105659" cy="398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316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1">
            <a:extLst xmlns:a="http://schemas.openxmlformats.org/drawingml/2006/main">
              <a:ext uri="{FF2B5EF4-FFF2-40B4-BE49-F238E27FC236}">
                <a16:creationId xmlns:a16="http://schemas.microsoft.com/office/drawing/2014/main" id="{0839FD19-287E-4AAB-8CCC-B719197A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AI changes both attack and defence—not accountability</a:t>
            </a:r>
          </a:p>
        </p:txBody>
      </p:sp>
      <p:sp>
        <p:nvSpPr>
          <p:cNvPr id="2" name="source-11">
            <a:extLst xmlns:a="http://schemas.openxmlformats.org/drawingml/2006/main">
              <a:ext uri="{FF2B5EF4-FFF2-40B4-BE49-F238E27FC236}">
                <a16:creationId xmlns:a16="http://schemas.microsoft.com/office/drawing/2014/main" id="{B2E605AB-BFB1-4A82-B479-B477182B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NIST AI RMF 1.0 and Generative AI Profile; NCSC ML security principles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93B6BCEF-F5C3-45C8-AAF7-0506EFC3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86020-1D5B-4AC0-9A30-70FAD834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323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DEFENCE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942B5-166B-47E2-A69D-E25DCFA6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2385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Triage alerts
Inspect code
Summarise threat intelligence
Spot unusual patterns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281D9-FB7C-4F80-A633-618FECC4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57300"/>
            <a:ext cx="323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ATTACK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F4A13-30BE-42E0-9C69-63A84C7F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32385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Scale convincing content
Automate reconnaissance
Search for weaknesses
Accelerate intrusion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B6BF7-9EE1-4A9D-8EC4-D9610592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257300"/>
            <a:ext cx="323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NEW SYSTEM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96941-5B56-4AD4-82E2-A7E4AB91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28575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Training data
Model behaviour
Sensitive integrations
Over-trust in outputs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73067-E3B7-4624-87D0-47E535B6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9A2DC-0F97-4F79-873D-FE8661A1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9906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Accountable people use automation with evidence, audit trails, realistic testing and a way to challenge the result.</a:t>
            </a:r>
          </a:p>
        </p:txBody>
      </p:sp>
    </p:spTree>
    <p:extLst>
      <p:ext uri="{BB962C8B-B14F-4D97-AF65-F5344CB8AC3E}">
        <p14:creationId xmlns:p14="http://schemas.microsoft.com/office/powerpoint/2010/main" val="7151315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12">
            <a:extLst xmlns:a="http://schemas.openxmlformats.org/drawingml/2006/main">
              <a:ext uri="{FF2B5EF4-FFF2-40B4-BE49-F238E27FC236}">
                <a16:creationId xmlns:a16="http://schemas.microsoft.com/office/drawing/2014/main" id="{458ACCB5-20AF-4221-AF04-D49011D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Effective cybersecurity connects six continuous functions</a:t>
            </a:r>
          </a:p>
        </p:txBody>
      </p:sp>
      <p:sp>
        <p:nvSpPr>
          <p:cNvPr id="2" name="source-12">
            <a:extLst xmlns:a="http://schemas.openxmlformats.org/drawingml/2006/main">
              <a:ext uri="{FF2B5EF4-FFF2-40B4-BE49-F238E27FC236}">
                <a16:creationId xmlns:a16="http://schemas.microsoft.com/office/drawing/2014/main" id="{FE17AC57-B92E-427B-9F44-B9A22CE8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NIST Cybersecurity Framework 2.0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A17680C3-21C3-4DF7-A48D-3BDD412C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56C13-93CA-4508-844A-38023F5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5" name="function-label-0">
            <a:extLst xmlns:a="http://schemas.openxmlformats.org/drawingml/2006/main">
              <a:ext uri="{FF2B5EF4-FFF2-40B4-BE49-F238E27FC236}">
                <a16:creationId xmlns:a16="http://schemas.microsoft.com/office/drawing/2014/main" id="{D7310C6E-FB9B-4708-BEF2-3910E3BB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GOVERN</a:t>
            </a:r>
          </a:p>
        </p:txBody>
      </p:sp>
      <p:sp>
        <p:nvSpPr>
          <p:cNvPr id="6" name="function-body-0">
            <a:extLst xmlns:a="http://schemas.openxmlformats.org/drawingml/2006/main">
              <a:ext uri="{FF2B5EF4-FFF2-40B4-BE49-F238E27FC236}">
                <a16:creationId xmlns:a16="http://schemas.microsoft.com/office/drawing/2014/main" id="{0E278041-AEAF-43A7-B3D3-A9FC56F6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3238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Own risk, priorities and suppliers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7B790-B5DD-4F87-8338-4D507AF4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287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function-label-1">
            <a:extLst xmlns:a="http://schemas.openxmlformats.org/drawingml/2006/main">
              <a:ext uri="{FF2B5EF4-FFF2-40B4-BE49-F238E27FC236}">
                <a16:creationId xmlns:a16="http://schemas.microsoft.com/office/drawing/2014/main" id="{7CAAABED-17AC-4E86-98A3-61F45B02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62125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IDENTIFY</a:t>
            </a:r>
          </a:p>
        </p:txBody>
      </p:sp>
      <p:sp>
        <p:nvSpPr>
          <p:cNvPr id="9" name="function-body-1">
            <a:extLst xmlns:a="http://schemas.openxmlformats.org/drawingml/2006/main">
              <a:ext uri="{FF2B5EF4-FFF2-40B4-BE49-F238E27FC236}">
                <a16:creationId xmlns:a16="http://schemas.microsoft.com/office/drawing/2014/main" id="{288659ED-1FE9-416B-B291-A5922833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47900"/>
            <a:ext cx="3238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Know assets, dependencies and threats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D17A9-0716-49C9-838C-427483AD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function-label-2">
            <a:extLst xmlns:a="http://schemas.openxmlformats.org/drawingml/2006/main">
              <a:ext uri="{FF2B5EF4-FFF2-40B4-BE49-F238E27FC236}">
                <a16:creationId xmlns:a16="http://schemas.microsoft.com/office/drawing/2014/main" id="{B2C36705-E63F-4993-B9FA-18C7ED29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7165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PROTECT</a:t>
            </a:r>
          </a:p>
        </p:txBody>
      </p:sp>
      <p:sp>
        <p:nvSpPr>
          <p:cNvPr id="12" name="function-body-2">
            <a:extLst xmlns:a="http://schemas.openxmlformats.org/drawingml/2006/main">
              <a:ext uri="{FF2B5EF4-FFF2-40B4-BE49-F238E27FC236}">
                <a16:creationId xmlns:a16="http://schemas.microsoft.com/office/drawing/2014/main" id="{3036E94A-6D49-4A14-AC92-5D593768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238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Reduce likely harm with usable 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08A75-7806-42DB-9CCA-D5D199A9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function-label-3">
            <a:extLst xmlns:a="http://schemas.openxmlformats.org/drawingml/2006/main">
              <a:ext uri="{FF2B5EF4-FFF2-40B4-BE49-F238E27FC236}">
                <a16:creationId xmlns:a16="http://schemas.microsoft.com/office/drawing/2014/main" id="{88875279-26E6-4EC3-A1FD-4787B2FF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DETECT</a:t>
            </a:r>
          </a:p>
        </p:txBody>
      </p:sp>
      <p:sp>
        <p:nvSpPr>
          <p:cNvPr id="15" name="function-body-3">
            <a:extLst xmlns:a="http://schemas.openxmlformats.org/drawingml/2006/main">
              <a:ext uri="{FF2B5EF4-FFF2-40B4-BE49-F238E27FC236}">
                <a16:creationId xmlns:a16="http://schemas.microsoft.com/office/drawing/2014/main" id="{68852068-C81A-485B-912E-D74F47C6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3238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Know when something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C4A43-0279-4A2D-93E4-396B308D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242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function-label-4">
            <a:extLst xmlns:a="http://schemas.openxmlformats.org/drawingml/2006/main">
              <a:ext uri="{FF2B5EF4-FFF2-40B4-BE49-F238E27FC236}">
                <a16:creationId xmlns:a16="http://schemas.microsoft.com/office/drawing/2014/main" id="{89F3734A-98A5-4203-9FD5-C7537A05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57625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RESPOND</a:t>
            </a:r>
          </a:p>
        </p:txBody>
      </p:sp>
      <p:sp>
        <p:nvSpPr>
          <p:cNvPr id="18" name="function-body-4">
            <a:extLst xmlns:a="http://schemas.openxmlformats.org/drawingml/2006/main">
              <a:ext uri="{FF2B5EF4-FFF2-40B4-BE49-F238E27FC236}">
                <a16:creationId xmlns:a16="http://schemas.microsoft.com/office/drawing/2014/main" id="{A7242AF3-2DC6-49C5-B605-5347D6E0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43400"/>
            <a:ext cx="3238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Contain, decide and communicate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154A8-DF91-41EE-9F84-925A9996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242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function-label-5">
            <a:extLst xmlns:a="http://schemas.openxmlformats.org/drawingml/2006/main">
              <a:ext uri="{FF2B5EF4-FFF2-40B4-BE49-F238E27FC236}">
                <a16:creationId xmlns:a16="http://schemas.microsoft.com/office/drawing/2014/main" id="{3FB98256-6BF3-475A-9691-70096132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6715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RECOVER</a:t>
            </a:r>
          </a:p>
        </p:txBody>
      </p:sp>
      <p:sp>
        <p:nvSpPr>
          <p:cNvPr id="21" name="function-body-5">
            <a:extLst xmlns:a="http://schemas.openxmlformats.org/drawingml/2006/main">
              <a:ext uri="{FF2B5EF4-FFF2-40B4-BE49-F238E27FC236}">
                <a16:creationId xmlns:a16="http://schemas.microsoft.com/office/drawing/2014/main" id="{DE16446C-2C25-4F6D-91AE-B4B52656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3238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Restore trusted service and learn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8FF119-0D72-406E-9F10-6C1E0DA1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The test is not whether a control exists. It is whether people can use it, failure is contained, and the organisation can demonstrate that it works.</a:t>
            </a:r>
          </a:p>
        </p:txBody>
      </p:sp>
    </p:spTree>
    <p:extLst>
      <p:ext uri="{BB962C8B-B14F-4D97-AF65-F5344CB8AC3E}">
        <p14:creationId xmlns:p14="http://schemas.microsoft.com/office/powerpoint/2010/main" val="16775653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13">
            <a:extLst xmlns:a="http://schemas.openxmlformats.org/drawingml/2006/main">
              <a:ext uri="{FF2B5EF4-FFF2-40B4-BE49-F238E27FC236}">
                <a16:creationId xmlns:a16="http://schemas.microsoft.com/office/drawing/2014/main" id="{20FA4F09-4964-4FD9-AEC1-230C54C9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The research became a safer decision workflow</a:t>
            </a:r>
          </a:p>
        </p:txBody>
      </p:sp>
      <p:sp>
        <p:nvSpPr>
          <p:cNvPr id="2" name="source-13">
            <a:extLst xmlns:a="http://schemas.openxmlformats.org/drawingml/2006/main">
              <a:ext uri="{FF2B5EF4-FFF2-40B4-BE49-F238E27FC236}">
                <a16:creationId xmlns:a16="http://schemas.microsoft.com/office/drawing/2014/main" id="{677DBD22-A5E5-4DB2-A162-3FE5CA4D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00055CC5-D9C5-4A29-B321-D8A10666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0538F-7E7A-45A1-9A16-2E32189A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34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The toolkit turns research into a visible sequence: find a need, inspect evidence, then act on the decision.</a:t>
            </a:r>
          </a:p>
        </p:txBody>
      </p:sp>
      <p:sp>
        <p:nvSpPr>
          <p:cNvPr id="5" name="discover-frame">
            <a:extLst xmlns:a="http://schemas.openxmlformats.org/drawingml/2006/main">
              <a:ext uri="{FF2B5EF4-FFF2-40B4-BE49-F238E27FC236}">
                <a16:creationId xmlns:a16="http://schemas.microsoft.com/office/drawing/2014/main" id="{F1F7BBA3-BBBB-48E1-8FA7-F964AF0B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24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6" name="compare-frame">
            <a:extLst xmlns:a="http://schemas.openxmlformats.org/drawingml/2006/main">
              <a:ext uri="{FF2B5EF4-FFF2-40B4-BE49-F238E27FC236}">
                <a16:creationId xmlns:a16="http://schemas.microsoft.com/office/drawing/2014/main" id="{1FF8CE41-1233-4E97-BE46-E5708D9F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524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7" name="act-frame">
            <a:extLst xmlns:a="http://schemas.openxmlformats.org/drawingml/2006/main">
              <a:ext uri="{FF2B5EF4-FFF2-40B4-BE49-F238E27FC236}">
                <a16:creationId xmlns:a16="http://schemas.microsoft.com/office/drawing/2014/main" id="{A5C1E794-EB67-4325-997F-B71364B8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524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67883-109D-4A93-ABE8-16BAE6C7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3524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1 / DISCOVER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A766A-E25A-465D-9D65-D6B6AB2D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3524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Search and establish the requirement.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7E661-9E19-4270-A390-97C63070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67350"/>
            <a:ext cx="3524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2 / COMPARE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BCE1B-A57B-4147-AACB-DFC99C96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791200"/>
            <a:ext cx="3524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Review relevant devices and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5074D-869B-4BC4-A721-A5493A4B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67350"/>
            <a:ext cx="3524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3 / 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D5236-D252-4FE1-937B-A3ACADC8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791200"/>
            <a:ext cx="3524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Purchase or harden with an auditable next step.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db22c70ca44d7"/>
          <a:stretch xmlns:a="http://schemas.openxmlformats.org/drawingml/2006/main"/>
        </p:blipFill>
        <p:spPr>
          <a:xfrm xmlns:a="http://schemas.openxmlformats.org/drawingml/2006/main">
            <a:off x="1554323" y="2209800"/>
            <a:ext cx="1215704" cy="29146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77bad22ac464b"/>
          <a:stretch xmlns:a="http://schemas.openxmlformats.org/drawingml/2006/main"/>
        </p:blipFill>
        <p:spPr>
          <a:xfrm xmlns:a="http://schemas.openxmlformats.org/drawingml/2006/main">
            <a:off x="5276511" y="2209800"/>
            <a:ext cx="1638978" cy="29146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85b34d8c74324"/>
          <a:stretch xmlns:a="http://schemas.openxmlformats.org/drawingml/2006/main"/>
        </p:blipFill>
        <p:spPr>
          <a:xfrm xmlns:a="http://schemas.openxmlformats.org/drawingml/2006/main">
            <a:off x="8407571" y="2209800"/>
            <a:ext cx="3244508" cy="2914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2162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6B826-4EA9-4832-9688-7AE85070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THE 2026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468D2-4569-4163-978C-C4B3346E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28700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t>Cybersecurity can keep pace—when it is continuous, governed, usable and designed for recovery.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0E2E5-B176-45BC-9C51-3F03988E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685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Next: “How do we decide what we provide?” and the Device Provisioning Toolkit</a:t>
            </a:r>
          </a:p>
        </p:txBody>
      </p:sp>
      <p:sp>
        <p:nvSpPr>
          <p:cNvPr id="4" name="source-14">
            <a:extLst xmlns:a="http://schemas.openxmlformats.org/drawingml/2006/main">
              <a:ext uri="{FF2B5EF4-FFF2-40B4-BE49-F238E27FC236}">
                <a16:creationId xmlns:a16="http://schemas.microsoft.com/office/drawing/2014/main" id="{C54FAAAB-8876-4F19-9EA3-A225146E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5" name="page-14">
            <a:extLst xmlns:a="http://schemas.openxmlformats.org/drawingml/2006/main">
              <a:ext uri="{FF2B5EF4-FFF2-40B4-BE49-F238E27FC236}">
                <a16:creationId xmlns:a16="http://schemas.microsoft.com/office/drawing/2014/main" id="{FEF6C5BE-CE36-4137-87D4-AB39BF06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20684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Nathan Brown-Bennett</dc:creator>
  <cp:lastModifiedBy>Nathan Brown-Bennett</cp:lastModifiedBy>
  <dc:title>Can cybersecurity keep pace with modern digital risk?</dc:title>
  <dcterms:created xsi:type="dcterms:W3CDTF">2026-07-19T16:35:11.7640000Z</dcterms:created>
  <dcterms:modified xsi:type="dcterms:W3CDTF">2026-07-19T16:35:11.7640000Z</dcterms:modified>
</cp:coreProperties>
</file>