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9500f64b3d4488" /><Relationship Type="http://schemas.openxmlformats.org/officeDocument/2006/relationships/extended-properties" Target="/docProps/app.xml" Id="R918136e8553044d5" /><Relationship Type="http://schemas.openxmlformats.org/officeDocument/2006/relationships/officeDocument" Target="/ppt/presentation.xml" Id="R708063d3c62e4b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5a7f6f7c024af0"/>
  </p:sldMasterIdLst>
  <p:notesMasterIdLst>
    <p:notesMasterId xmlns:r="http://schemas.openxmlformats.org/officeDocument/2006/relationships" r:id="R24b0ecdaa4804433"/>
  </p:notesMasterIdLst>
  <p:sldIdLst>
    <p:sldId xmlns:r="http://schemas.openxmlformats.org/officeDocument/2006/relationships" id="256" r:id="R4b4144aef8c34cdc"/>
    <p:sldId xmlns:r="http://schemas.openxmlformats.org/officeDocument/2006/relationships" id="257" r:id="R05bb4e1fc9584c26"/>
    <p:sldId xmlns:r="http://schemas.openxmlformats.org/officeDocument/2006/relationships" id="258" r:id="R1ad5893b2d9c4504"/>
    <p:sldId xmlns:r="http://schemas.openxmlformats.org/officeDocument/2006/relationships" id="259" r:id="R8b9ec66d58324a65"/>
    <p:sldId xmlns:r="http://schemas.openxmlformats.org/officeDocument/2006/relationships" id="260" r:id="R3427cc298c3342c3"/>
    <p:sldId xmlns:r="http://schemas.openxmlformats.org/officeDocument/2006/relationships" id="261" r:id="R3794e988d7cf4704"/>
    <p:sldId xmlns:r="http://schemas.openxmlformats.org/officeDocument/2006/relationships" id="262" r:id="Redb94554c6db4bdf"/>
    <p:sldId xmlns:r="http://schemas.openxmlformats.org/officeDocument/2006/relationships" id="263" r:id="Rada69711e6c34993"/>
    <p:sldId xmlns:r="http://schemas.openxmlformats.org/officeDocument/2006/relationships" id="264" r:id="Rf0d11ad996d14c7d"/>
    <p:sldId xmlns:r="http://schemas.openxmlformats.org/officeDocument/2006/relationships" id="265" r:id="Rbacc522ba1f8498f"/>
    <p:sldId xmlns:r="http://schemas.openxmlformats.org/officeDocument/2006/relationships" id="266" r:id="R4b18b27999d84c16"/>
    <p:sldId xmlns:r="http://schemas.openxmlformats.org/officeDocument/2006/relationships" id="267" r:id="R7694c7a966294f60"/>
    <p:sldId xmlns:r="http://schemas.openxmlformats.org/officeDocument/2006/relationships" id="268" r:id="Rcddb617d05a3421c"/>
    <p:sldId xmlns:r="http://schemas.openxmlformats.org/officeDocument/2006/relationships" id="269" r:id="Re35e7f997ccc48f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8c8fd15df54f6b" /><Relationship Type="http://schemas.openxmlformats.org/officeDocument/2006/relationships/slideMaster" Target="/ppt/slideMasters/slideMaster1.xml" Id="R9c5a7f6f7c024af0" /><Relationship Type="http://schemas.openxmlformats.org/officeDocument/2006/relationships/notesMaster" Target="/ppt/notesMasters/notesMaster1.xml" Id="R24b0ecdaa4804433" /><Relationship Type="http://schemas.openxmlformats.org/officeDocument/2006/relationships/presProps" Target="/ppt/presProps.xml" Id="R92d1acfc3ba6465d" /><Relationship Type="http://schemas.openxmlformats.org/officeDocument/2006/relationships/tableStyles" Target="/ppt/tableStyles.xml" Id="R203425ef193a4b47" /><Relationship Type="http://schemas.openxmlformats.org/officeDocument/2006/relationships/slide" Target="/ppt/slides/slide1.xml" Id="R4b4144aef8c34cdc" /><Relationship Type="http://schemas.openxmlformats.org/officeDocument/2006/relationships/slide" Target="/ppt/slides/slide2.xml" Id="R05bb4e1fc9584c26" /><Relationship Type="http://schemas.openxmlformats.org/officeDocument/2006/relationships/slide" Target="/ppt/slides/slide3.xml" Id="R1ad5893b2d9c4504" /><Relationship Type="http://schemas.openxmlformats.org/officeDocument/2006/relationships/slide" Target="/ppt/slides/slide4.xml" Id="R8b9ec66d58324a65" /><Relationship Type="http://schemas.openxmlformats.org/officeDocument/2006/relationships/slide" Target="/ppt/slides/slide5.xml" Id="R3427cc298c3342c3" /><Relationship Type="http://schemas.openxmlformats.org/officeDocument/2006/relationships/slide" Target="/ppt/slides/slide6.xml" Id="R3794e988d7cf4704" /><Relationship Type="http://schemas.openxmlformats.org/officeDocument/2006/relationships/slide" Target="/ppt/slides/slide7.xml" Id="Redb94554c6db4bdf" /><Relationship Type="http://schemas.openxmlformats.org/officeDocument/2006/relationships/slide" Target="/ppt/slides/slide8.xml" Id="Rada69711e6c34993" /><Relationship Type="http://schemas.openxmlformats.org/officeDocument/2006/relationships/slide" Target="/ppt/slides/slide9.xml" Id="Rf0d11ad996d14c7d" /><Relationship Type="http://schemas.openxmlformats.org/officeDocument/2006/relationships/slide" Target="/ppt/slides/slide10.xml" Id="Rbacc522ba1f8498f" /><Relationship Type="http://schemas.openxmlformats.org/officeDocument/2006/relationships/slide" Target="/ppt/slides/slide11.xml" Id="R4b18b27999d84c16" /><Relationship Type="http://schemas.openxmlformats.org/officeDocument/2006/relationships/slide" Target="/ppt/slides/slide12.xml" Id="R7694c7a966294f60" /><Relationship Type="http://schemas.openxmlformats.org/officeDocument/2006/relationships/slide" Target="/ppt/slides/slide13.xml" Id="Rcddb617d05a3421c" /><Relationship Type="http://schemas.openxmlformats.org/officeDocument/2006/relationships/slide" Target="/ppt/slides/slide14.xml" Id="Re35e7f997ccc48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d21d4780ce4f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06ea3135a54ed0" /><Relationship Type="http://schemas.openxmlformats.org/officeDocument/2006/relationships/notesMaster" Target="/ppt/notesMasters/notesMaster1.xml" Id="Rebe11c6ea8a94f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e009daf4984f29" /><Relationship Type="http://schemas.openxmlformats.org/officeDocument/2006/relationships/notesMaster" Target="/ppt/notesMasters/notesMaster1.xml" Id="Rcba4c4fb23f14e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fb08e6f9334e56" /><Relationship Type="http://schemas.openxmlformats.org/officeDocument/2006/relationships/notesMaster" Target="/ppt/notesMasters/notesMaster1.xml" Id="Rbbf39f39e83445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d6d1ce2a894164" /><Relationship Type="http://schemas.openxmlformats.org/officeDocument/2006/relationships/notesMaster" Target="/ppt/notesMasters/notesMaster1.xml" Id="R8d9cc7a7d76446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565c36af654a8b" /><Relationship Type="http://schemas.openxmlformats.org/officeDocument/2006/relationships/notesMaster" Target="/ppt/notesMasters/notesMaster1.xml" Id="R4130ca8aa3db4f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37bada7c1d45ff" /><Relationship Type="http://schemas.openxmlformats.org/officeDocument/2006/relationships/notesMaster" Target="/ppt/notesMasters/notesMaster1.xml" Id="R4fca5f5521d842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87951cffdc473b" /><Relationship Type="http://schemas.openxmlformats.org/officeDocument/2006/relationships/notesMaster" Target="/ppt/notesMasters/notesMaster1.xml" Id="R02ba4732d1274f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59dd31cd064b03" /><Relationship Type="http://schemas.openxmlformats.org/officeDocument/2006/relationships/notesMaster" Target="/ppt/notesMasters/notesMaster1.xml" Id="R289bc0c8815b4c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9c70e1bbfc437f" /><Relationship Type="http://schemas.openxmlformats.org/officeDocument/2006/relationships/notesMaster" Target="/ppt/notesMasters/notesMaster1.xml" Id="Rb02099f31e7444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4e4794f9d143b3" /><Relationship Type="http://schemas.openxmlformats.org/officeDocument/2006/relationships/notesMaster" Target="/ppt/notesMasters/notesMaster1.xml" Id="R123f2031052b48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37b49c1c174978" /><Relationship Type="http://schemas.openxmlformats.org/officeDocument/2006/relationships/notesMaster" Target="/ppt/notesMasters/notesMaster1.xml" Id="R24ec8589952842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8660183d694952" /><Relationship Type="http://schemas.openxmlformats.org/officeDocument/2006/relationships/notesMaster" Target="/ppt/notesMasters/notesMaster1.xml" Id="R3e73bfbadd0e4c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b1da15f4424aae" /><Relationship Type="http://schemas.openxmlformats.org/officeDocument/2006/relationships/notesMaster" Target="/ppt/notesMasters/notesMaster1.xml" Id="R64a2a9de5c904d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d744cd871cb4d65" /><Relationship Type="http://schemas.openxmlformats.org/officeDocument/2006/relationships/notesMaster" Target="/ppt/notesMasters/notesMaster1.xml" Id="R6fa616254d5d47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original question and explain that this is a new standalone investigation; the assessed 2020 submission remains preserved as the historical record.</a:t>
            </a:r>
          </a:p>
          <a:p xmlns:a="http://schemas.openxmlformats.org/drawingml/2006/main">
            <a:r>
              <a:t>The imperfect wording contains the long-term product question: how can protection be practical enough to use and strong enough to matter?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series follows the intellectual lineage, including what changed—not just finished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term security is contextual. A control can reduce risk without making the system permanently safe.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protected boundary first. The same incident can cross all four fields.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title alone does not prove the scope. Ask what the role owns, can change and must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scenario to show overlap without collapsing the fields into synonyms.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reflective rather than dismissive. Show development in judgement and methodology.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survey caveat: unidentified and undisclosed incidents mean prevalence is not a complete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increase to establish urgency, then immediately avoid the false conclusion that every incident means all defence failed.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revised work does not deny mistakes. It widens responsibility to defaults, permissions, interfaces, incentives and recovery.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the old person-versus-machine framing with accountable augmentation.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Govern was added explicitly in CSF 2.0. Security is an enterprise decision, not only a technical team 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real current screens. State that this is a research prototype and generated guidance requires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 question, then introduce the next episode.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241de67a0447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ac1f967e094e0e" /><Relationship Type="http://schemas.openxmlformats.org/officeDocument/2006/relationships/slideLayout" Target="/ppt/slideLayouts/slideLayout1.xml" Id="R6edecc5707b248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decc5707b248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4d5735b204a7a" /><Relationship Type="http://schemas.openxmlformats.org/officeDocument/2006/relationships/image" Target="/ppt/media/image.png" Id="R2ad579f3837c407e" /><Relationship Type="http://schemas.openxmlformats.org/officeDocument/2006/relationships/notesSlide" Target="/ppt/notesSlides/notesSlide1.xml" Id="R0f81581ffe9944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a3d4a0a75463d" /><Relationship Type="http://schemas.openxmlformats.org/officeDocument/2006/relationships/notesSlide" Target="/ppt/notesSlides/notesSlide2.xml" Id="R5023e531ec1442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29298e71e4aaa" /><Relationship Type="http://schemas.openxmlformats.org/officeDocument/2006/relationships/notesSlide" Target="/ppt/notesSlides/notesSlide3.xml" Id="R2e9fb097ec484aa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692ef1b394d9e" /><Relationship Type="http://schemas.openxmlformats.org/officeDocument/2006/relationships/notesSlide" Target="/ppt/notesSlides/notesSlide4.xml" Id="Rd4c658cf6a444b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3f7f1d07f4330" /><Relationship Type="http://schemas.openxmlformats.org/officeDocument/2006/relationships/notesSlide" Target="/ppt/notesSlides/notesSlide5.xml" Id="R38eeefc68dd545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c071b8b0c42e6" /><Relationship Type="http://schemas.openxmlformats.org/officeDocument/2006/relationships/notesSlide" Target="/ppt/notesSlides/notesSlide6.xml" Id="Rac00fd034bf640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84d5dfadf407f" /><Relationship Type="http://schemas.openxmlformats.org/officeDocument/2006/relationships/notesSlide" Target="/ppt/notesSlides/notesSlide7.xml" Id="R5c72ffe915e844c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b638ae0cc403e" /><Relationship Type="http://schemas.openxmlformats.org/officeDocument/2006/relationships/notesSlide" Target="/ppt/notesSlides/notesSlide8.xml" Id="R0f0a9efc41ef4e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2c3d9901d40f8" /><Relationship Type="http://schemas.openxmlformats.org/officeDocument/2006/relationships/chart" Target="/ppt/slides/charts/chart1.xml" Id="R0d9cf33346414b0b" /><Relationship Type="http://schemas.openxmlformats.org/officeDocument/2006/relationships/notesSlide" Target="/ppt/notesSlides/notesSlide9.xml" Id="R465014a9d62647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caf67907d419e" /><Relationship Type="http://schemas.openxmlformats.org/officeDocument/2006/relationships/notesSlide" Target="/ppt/notesSlides/notesSlide10.xml" Id="Rf81b3ae147344b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c4be146664cf3" /><Relationship Type="http://schemas.openxmlformats.org/officeDocument/2006/relationships/notesSlide" Target="/ppt/notesSlides/notesSlide11.xml" Id="R9ca67dc849b741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bed3db1f64642" /><Relationship Type="http://schemas.openxmlformats.org/officeDocument/2006/relationships/notesSlide" Target="/ppt/notesSlides/notesSlide12.xml" Id="R149f63c0e94348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26d9dbf5746d9" /><Relationship Type="http://schemas.openxmlformats.org/officeDocument/2006/relationships/image" Target="/ppt/media/image2.png" Id="Rceceecb365d7449a" /><Relationship Type="http://schemas.openxmlformats.org/officeDocument/2006/relationships/image" Target="/ppt/media/image3.png" Id="R15429af2adbf4142" /><Relationship Type="http://schemas.openxmlformats.org/officeDocument/2006/relationships/notesSlide" Target="/ppt/notesSlides/notesSlide13.xml" Id="R43a7f17a479f42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6117776d14347" /><Relationship Type="http://schemas.openxmlformats.org/officeDocument/2006/relationships/notesSlide" Target="/ppt/notesSlides/notesSlide14.xml" Id="Ra33b197fc67847b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Incidents</c:v>
          </c:tx>
          <c:spPr>
            <a:solidFill xmlns:a="http://schemas.openxmlformats.org/drawingml/2006/main">
              <a:srgbClr val="14B8A6"/>
            </a:solidFill>
          </c:spPr>
          <c:cat>
            <c:strLit>
              <c:ptCount val="2"/>
              <c:pt idx="0">
                <c:v>2023–24</c:v>
              </c:pt>
              <c:pt idx="1">
                <c:v>2024–25</c:v>
              </c:pt>
            </c:strLit>
          </c:cat>
          <c:val>
            <c:numLit>
              <c:formatCode>General</c:formatCode>
              <c:ptCount val="2"/>
              <c:pt idx="0">
                <c:v>89</c:v>
              </c:pt>
              <c:pt idx="1">
                <c:v>204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75569"/>
                </a:solidFill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0792A-D0E8-4A08-B36A-FE932695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NOTES / EPISODE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E7A39-AEB3-44C2-BD96-32E014B6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71600"/>
            <a:ext cx="5334000" cy="2076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Can cybersecurity keep pace with modern digital risk?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3FDDB-9666-4C39-8580-2BA6A1F1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51435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A new 2026 investigation built from my first A-level dissertation—and the question that led towards safer product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B39FC-9D71-4630-A247-A794FC60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14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Nathan Brown-Bennett  ·  Revised July 2026</a:t>
            </a:r>
          </a:p>
        </p:txBody>
      </p:sp>
      <p:sp>
        <p:nvSpPr>
          <p:cNvPr id="5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80E1563D-19A2-4066-BB4D-B6017E74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6" name="source-1">
            <a:extLst xmlns:a="http://schemas.openxmlformats.org/drawingml/2006/main">
              <a:ext uri="{FF2B5EF4-FFF2-40B4-BE49-F238E27FC236}">
                <a16:creationId xmlns:a16="http://schemas.microsoft.com/office/drawing/2014/main" id="{3E478A0F-76A9-476F-8164-167C6259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7" name="page-1">
            <a:extLst xmlns:a="http://schemas.openxmlformats.org/drawingml/2006/main">
              <a:ext uri="{FF2B5EF4-FFF2-40B4-BE49-F238E27FC236}">
                <a16:creationId xmlns:a16="http://schemas.microsoft.com/office/drawing/2014/main" id="{0EF814F0-C2E1-40AF-BE79-B62A3E68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579f3837c407e"/>
          <a:stretch xmlns:a="http://schemas.openxmlformats.org/drawingml/2006/main"/>
        </p:blipFill>
        <p:spPr>
          <a:xfrm xmlns:a="http://schemas.openxmlformats.org/drawingml/2006/main">
            <a:off x="7184536" y="590550"/>
            <a:ext cx="3690328" cy="5219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85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2">
            <a:extLst xmlns:a="http://schemas.openxmlformats.org/drawingml/2006/main">
              <a:ext uri="{FF2B5EF4-FFF2-40B4-BE49-F238E27FC236}">
                <a16:creationId xmlns:a16="http://schemas.microsoft.com/office/drawing/2014/main" id="{762223F7-DA32-4620-AF64-61EC7E50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question became a research-to-product thread</a:t>
            </a:r>
          </a:p>
        </p:txBody>
      </p:sp>
      <p:sp>
        <p:nvSpPr>
          <p:cNvPr id="2" name="source-2">
            <a:extLst xmlns:a="http://schemas.openxmlformats.org/drawingml/2006/main">
              <a:ext uri="{FF2B5EF4-FFF2-40B4-BE49-F238E27FC236}">
                <a16:creationId xmlns:a16="http://schemas.microsoft.com/office/drawing/2014/main" id="{1937A38A-FC70-4C0C-A49F-43283FAE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D456BB4B-2F24-4537-A14B-3EB3EF38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B7CDCA-5A1B-491D-B578-BF7A58F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6263F-F963-4842-8A49-0DB251BB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A5829-C4E0-453F-9336-E54FF0E1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BD8B7-1CEE-47DF-81C7-04853514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1B047-2997-42A0-9992-46F948CE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33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2020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FD599-34AF-4769-B5A1-01301949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Undergraduate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A3C3E-9897-48C0-B0AA-9F12BC4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Product prototype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3177A-3FBE-4FCC-9077-E4B78757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2781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A-level EPQ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93A615-18E0-4A13-B29A-23C27364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27813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Why is protection hard to understand and apply?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54D36-FB9B-41EB-BF80-4670F8E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14750"/>
            <a:ext cx="314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“How do we decide what we provide?”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30E63-B90D-4FF7-9386-19EFC911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76750"/>
            <a:ext cx="3143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How can device evidence support a real decision?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31731-AAB3-4DB4-926C-EFFFCFC5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314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Device Provisioning Toolkit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D2B9B5-AA57-4839-B99D-47B0D402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76750"/>
            <a:ext cx="3143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Turn evidence into a safer, repeatable and auditable workflow.</a:t>
            </a:r>
          </a:p>
        </p:txBody>
      </p:sp>
    </p:spTree>
    <p:extLst>
      <p:ext uri="{BB962C8B-B14F-4D97-AF65-F5344CB8AC3E}">
        <p14:creationId xmlns:p14="http://schemas.microsoft.com/office/powerpoint/2010/main" val="15499701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3">
            <a:extLst xmlns:a="http://schemas.openxmlformats.org/drawingml/2006/main">
              <a:ext uri="{FF2B5EF4-FFF2-40B4-BE49-F238E27FC236}">
                <a16:creationId xmlns:a16="http://schemas.microsoft.com/office/drawing/2014/main" id="{E6117EB5-7F0C-41EC-A926-2E17FEE1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is managed harm reduction—not a guarantee</a:t>
            </a:r>
          </a:p>
        </p:txBody>
      </p:sp>
      <p:sp>
        <p:nvSpPr>
          <p:cNvPr id="2" name="source-3">
            <a:extLst xmlns:a="http://schemas.openxmlformats.org/drawingml/2006/main">
              <a:ext uri="{FF2B5EF4-FFF2-40B4-BE49-F238E27FC236}">
                <a16:creationId xmlns:a16="http://schemas.microsoft.com/office/drawing/2014/main" id="{ACCCEDAA-1E21-40C8-A795-6CD2C6CE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4D471E1A-A83C-4308-A48D-511E23DD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A51A5-EC58-4482-B1BB-9BAF0AB8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715250" cy="144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 security decision identifies something of value, the threats and weaknesses that could affect it, the likely consequence, and the controls proportionate to that risk.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DA096-BA28-4893-9FA9-5AADF92D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390650"/>
            <a:ext cx="2762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 practical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E0873-0D43-468F-B3A4-17B5B0E8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952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What are we protecting?
From which harm?
Who owns the decision?
How will we know the control works?
What happens when it fails?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1141-78F6-4B10-907F-0C6B9301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96A7B-C4F9-4E82-8858-0D6F6D00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CONFIDENTIALITY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70EDE-CF05-43C2-BB0A-BF93D6BB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unauthorised disclosure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A934A-430E-4EBF-B29B-ECC67AB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INTEGRITY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948E0-0887-48BC-8394-EA7AF488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19650"/>
            <a:ext cx="2000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unauthorised 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B3746C-6372-4031-81D5-60376B5F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419600"/>
            <a:ext cx="2000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AVAILABILITY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31300-C8C8-4499-887D-26743335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Keep authorised access and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897FB-B071-4003-A342-FB7B336E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19600"/>
            <a:ext cx="2000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RESILIENCE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97295-F12D-4520-BB31-A588249B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 disruption and restore trust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D225F7-9B77-4167-9CA7-8287E7EC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1960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13288-3FCE-4509-AF62-9DFD6973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819650"/>
            <a:ext cx="1809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Add safety, privacy, authenticity and accountability where needed</a:t>
            </a:r>
          </a:p>
        </p:txBody>
      </p:sp>
    </p:spTree>
    <p:extLst>
      <p:ext uri="{BB962C8B-B14F-4D97-AF65-F5344CB8AC3E}">
        <p14:creationId xmlns:p14="http://schemas.microsoft.com/office/powerpoint/2010/main" val="13010774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13E487A2-0276-488F-A21B-2DAF773A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security fields overlap—but protect different boundaries</a:t>
            </a:r>
          </a:p>
        </p:txBody>
      </p:sp>
      <p:sp>
        <p:nvSpPr>
          <p:cNvPr id="2" name="source-4">
            <a:extLst xmlns:a="http://schemas.openxmlformats.org/drawingml/2006/main">
              <a:ext uri="{FF2B5EF4-FFF2-40B4-BE49-F238E27FC236}">
                <a16:creationId xmlns:a16="http://schemas.microsoft.com/office/drawing/2014/main" id="{EAC8C81D-BCB1-48AE-8A91-DC512C58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von Solms &amp; van Niekerk (2013); NIST CSF 2.0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31E5A7E7-3FA9-40D5-82F3-AF0C53B9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E35B9-1781-482C-BC92-531C1D4F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144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FIELD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8E56F-247C-4720-B414-B150533E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3144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PRIMARY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FB23C-864C-488C-8EF6-75B4B650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3144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WHAT IT HANDLES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92458-ECA0-453E-9AF2-E6CD5A06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99762-5D49-4CBD-9F97-9BC66462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 security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BA7ED-BEA7-4779-A564-0BD58C65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907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device or computing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67268A-78D3-4310-B273-A1F67634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OS, software, memory, storage, local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AC0D6-AC91-4FFA-8F1A-3C5CDEB8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C3107-3B69-42B3-A412-257F7C76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IT security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E62CC0-1071-44FE-831A-6C43A91A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813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An organisation’s technology estate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C2380-FCDC-4863-9983-5DA106F0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813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Devices, identities, networks, cloud, applications, backups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EDBB98-A867-443B-BBCC-A17A606D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9F93F-C33C-4E2F-81CE-209F6C3E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719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 security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A8410-D538-46C9-848E-5E23020E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719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 in any form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32E06-2992-4F29-B7CF-88015507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719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Digital, paper or spoken information; confidentiality, integrity, availability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5F5B1-132E-4337-BE02-B36544B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32165-A702-449D-B502-ADC6E20A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A5E4C-6B3B-481C-9D15-9A4228D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625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Harm through connected digital systems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001ACD-5F12-4F5D-B8A9-2E853D7E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625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Technology, information, people, services and physical processes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16ADC4-FE65-4D40-B71A-FD54AE8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86450"/>
            <a:ext cx="7620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The labels clarify ownership. They should not create silos.</a:t>
            </a:r>
          </a:p>
        </p:txBody>
      </p:sp>
    </p:spTree>
    <p:extLst>
      <p:ext uri="{BB962C8B-B14F-4D97-AF65-F5344CB8AC3E}">
        <p14:creationId xmlns:p14="http://schemas.microsoft.com/office/powerpoint/2010/main" val="5780296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5">
            <a:extLst xmlns:a="http://schemas.openxmlformats.org/drawingml/2006/main">
              <a:ext uri="{FF2B5EF4-FFF2-40B4-BE49-F238E27FC236}">
                <a16:creationId xmlns:a16="http://schemas.microsoft.com/office/drawing/2014/main" id="{4146AC0E-81EC-4D32-B230-1A7D7408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Roles are organised around outputs—not universal job titles</a:t>
            </a:r>
          </a:p>
        </p:txBody>
      </p:sp>
      <p:sp>
        <p:nvSpPr>
          <p:cNvPr id="2" name="source-5">
            <a:extLst xmlns:a="http://schemas.openxmlformats.org/drawingml/2006/main">
              <a:ext uri="{FF2B5EF4-FFF2-40B4-BE49-F238E27FC236}">
                <a16:creationId xmlns:a16="http://schemas.microsoft.com/office/drawing/2014/main" id="{6C0B5ED6-A6BA-4CA3-8B67-59417CBF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037ADAFA-E12A-4830-BC99-45D446CE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90DC3-6294-45CF-9BEA-0502D695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FIELD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20D5A-5ABE-472F-B528-ECB2F9B4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76350"/>
            <a:ext cx="4095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TYPICAL ROLES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5A7992-F41F-42E3-A546-EFE2BACE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27635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ACCOUNTABLE OUTPUTS</a:t>
            </a:r>
          </a:p>
        </p:txBody>
      </p:sp>
      <p:sp>
        <p:nvSpPr>
          <p:cNvPr id="7" name="role-row-0">
            <a:extLst xmlns:a="http://schemas.openxmlformats.org/drawingml/2006/main">
              <a:ext uri="{FF2B5EF4-FFF2-40B4-BE49-F238E27FC236}">
                <a16:creationId xmlns:a16="http://schemas.microsoft.com/office/drawing/2014/main" id="{B380B61B-B000-4845-9AD7-5DC5DBE3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EA5E5-C2C2-4FEE-BAD8-0247BBC4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1003D-CD5F-4DC1-B6A0-A0E23C87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716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Endpoint / platform engineer
OS specialist · malware analyst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16189-988B-46D6-8EBC-0D5ECFC2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716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Hardened builds · patch baselines
endpoint controls · findings</a:t>
            </a:r>
          </a:p>
        </p:txBody>
      </p:sp>
      <p:sp>
        <p:nvSpPr>
          <p:cNvPr id="11" name="role-row-1">
            <a:extLst xmlns:a="http://schemas.openxmlformats.org/drawingml/2006/main">
              <a:ext uri="{FF2B5EF4-FFF2-40B4-BE49-F238E27FC236}">
                <a16:creationId xmlns:a16="http://schemas.microsoft.com/office/drawing/2014/main" id="{8AEDE4CB-AFE9-4748-B583-D54F819C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BDABE-C021-477D-8580-A709E58F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71EB8-0CFD-466E-8557-706A900E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003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analyst · IAM specialist
network / cloud security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A1A97-1270-4507-A846-6E98074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Managed access · architecture
monitoring · backup · recovery</a:t>
            </a:r>
          </a:p>
        </p:txBody>
      </p:sp>
      <p:sp>
        <p:nvSpPr>
          <p:cNvPr id="15" name="role-row-2">
            <a:extLst xmlns:a="http://schemas.openxmlformats.org/drawingml/2006/main">
              <a:ext uri="{FF2B5EF4-FFF2-40B4-BE49-F238E27FC236}">
                <a16:creationId xmlns:a16="http://schemas.microsoft.com/office/drawing/2014/main" id="{DB47385F-1C6A-4024-BDA8-0243FBAF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5FF066-ACFE-4D13-A045-9B9B7641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8250E7-7C58-4C0A-BF0F-C306A88F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290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manager · risk specialist
governance lead · asset 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E7F11A-FA40-4FCE-A3E4-3717EABB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290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Classification · risk treatment
policy · assurance · audit evidence</a:t>
            </a:r>
          </a:p>
        </p:txBody>
      </p:sp>
      <p:sp>
        <p:nvSpPr>
          <p:cNvPr id="19" name="role-row-3">
            <a:extLst xmlns:a="http://schemas.openxmlformats.org/drawingml/2006/main">
              <a:ext uri="{FF2B5EF4-FFF2-40B4-BE49-F238E27FC236}">
                <a16:creationId xmlns:a16="http://schemas.microsoft.com/office/drawing/2014/main" id="{D3CFEAA1-FC24-40FB-BC0B-1E4DC362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434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8FB856-77ED-47CF-B3DE-8CDC6F22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720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E7F79-FC28-44DA-8E82-E9C9CBE7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SOC analyst · incident responder
threat intel · pentest · AppSec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39E3CD-4750-4010-970C-678E58E1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8577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Threat-led defence · detection
containment · testing · improvement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940507-F2A8-4938-B9FA-6C96557E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76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Small organisations may combine every duty in one IT role; larger organisations may split one duty across several teams.</a:t>
            </a:r>
          </a:p>
        </p:txBody>
      </p:sp>
    </p:spTree>
    <p:extLst>
      <p:ext uri="{BB962C8B-B14F-4D97-AF65-F5344CB8AC3E}">
        <p14:creationId xmlns:p14="http://schemas.microsoft.com/office/powerpoint/2010/main" val="15003321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6">
            <a:extLst xmlns:a="http://schemas.openxmlformats.org/drawingml/2006/main">
              <a:ext uri="{FF2B5EF4-FFF2-40B4-BE49-F238E27FC236}">
                <a16:creationId xmlns:a16="http://schemas.microsoft.com/office/drawing/2014/main" id="{45100C28-08E4-4C80-9C68-77C9E293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stolen credential creates four connected questions</a:t>
            </a:r>
          </a:p>
        </p:txBody>
      </p:sp>
      <p:sp>
        <p:nvSpPr>
          <p:cNvPr id="2" name="source-6">
            <a:extLst xmlns:a="http://schemas.openxmlformats.org/drawingml/2006/main">
              <a:ext uri="{FF2B5EF4-FFF2-40B4-BE49-F238E27FC236}">
                <a16:creationId xmlns:a16="http://schemas.microsoft.com/office/drawing/2014/main" id="{7A05C4CF-1B7D-4B64-8D02-47D5D86C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DCE6C595-02AF-4EDA-A305-BA8D743F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EBF1A-F68A-470A-A646-37B2B868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95400"/>
            <a:ext cx="1057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Scenario: a staff laptop is compromised through a stolen cloud credential.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B20F7-B921-4277-B198-83B4E787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67050"/>
            <a:ext cx="942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D7390-D2AC-4D88-8A39-9AD0D381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AFEEE-1010-4AF9-ABE9-402F4D92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65AE9-C56A-4AA1-8A44-238FAFEF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7363FD-63F8-46F4-A505-A0938A59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92D924-7F09-4D13-A659-33F193A8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AC1C1-0667-4A1C-9049-F1C64921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Was the endpoint patched, hardened and able to isolate activity?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433C1-5AF9-4954-9957-3BBE36B2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65A96-EBA5-4164-9F54-E648A018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How were the identity, device, network and cloud service administered?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1B821-033C-4BA5-AFB1-3C3F8A72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00DEC-8EAA-4A24-8291-370FD4D6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Which records were exposed, how sensitive were they, and what duties follow?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0E7183-A1A0-449F-853B-E6DE7910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BCBAF-C0FD-41C2-A8BF-B352F7A7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What was the connected attack path, wider harm, containment and recovery?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22BE5-1C20-49AA-8BC4-A3CE249A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10191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Clear handoffs close the gaps: technical evidence → access revocation → impact assessment → coordinated containment and learning.</a:t>
            </a:r>
          </a:p>
        </p:txBody>
      </p:sp>
    </p:spTree>
    <p:extLst>
      <p:ext uri="{BB962C8B-B14F-4D97-AF65-F5344CB8AC3E}">
        <p14:creationId xmlns:p14="http://schemas.microsoft.com/office/powerpoint/2010/main" val="12324649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7">
            <a:extLst xmlns:a="http://schemas.openxmlformats.org/drawingml/2006/main">
              <a:ext uri="{FF2B5EF4-FFF2-40B4-BE49-F238E27FC236}">
                <a16:creationId xmlns:a16="http://schemas.microsoft.com/office/drawing/2014/main" id="{577BCCB1-102E-4711-A93D-716C0B61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original instinct was useful; the diagnosis needed work</a:t>
            </a:r>
          </a:p>
        </p:txBody>
      </p:sp>
      <p:sp>
        <p:nvSpPr>
          <p:cNvPr id="2" name="source-7">
            <a:extLst xmlns:a="http://schemas.openxmlformats.org/drawingml/2006/main">
              <a:ext uri="{FF2B5EF4-FFF2-40B4-BE49-F238E27FC236}">
                <a16:creationId xmlns:a16="http://schemas.microsoft.com/office/drawing/2014/main" id="{8479A70E-1B33-4009-834A-A6A88495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EE08248F-E626-4B1E-BDF8-1D54BFEC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9515C-C9BC-4B76-A7A2-8E204D80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WHAT SURVIVED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705F4-4798-4F72-BD0C-802EDE2C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5730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WHAT CHANGED</a:t>
            </a:r>
          </a:p>
        </p:txBody>
      </p:sp>
      <p:sp>
        <p:nvSpPr>
          <p:cNvPr id="6" name="survived">
            <a:extLst xmlns:a="http://schemas.openxmlformats.org/drawingml/2006/main">
              <a:ext uri="{FF2B5EF4-FFF2-40B4-BE49-F238E27FC236}">
                <a16:creationId xmlns:a16="http://schemas.microsoft.com/office/drawing/2014/main" id="{4A811F26-830B-48AE-8A16-65C11E2F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5245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7" name="changed">
            <a:extLst xmlns:a="http://schemas.openxmlformats.org/drawingml/2006/main">
              <a:ext uri="{FF2B5EF4-FFF2-40B4-BE49-F238E27FC236}">
                <a16:creationId xmlns:a16="http://schemas.microsoft.com/office/drawing/2014/main" id="{615F98E7-916B-4AC7-97CD-9FD51622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14500"/>
            <a:ext cx="55245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8E76B-0A2F-435F-8C5D-93C84B03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485775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• Perfect security is not operational
• Public understanding matters
• Automation is necessary at scale
• Cybersecurity connects technology, organisations and society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67747-654D-4EB9-9AFF-FDF51202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485775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• Breaches do not prove defence is useless
• “Human error” is a system-design signal
• AI augments accountable professionals
• The original survey was exploratory, not representative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69DE7-495F-4BCF-8CB1-90C90AD4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2020 submission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89A7C-7BF6-4F64-96E6-D9481FC2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75310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2026 standalone dissertation</a:t>
            </a:r>
          </a:p>
        </p:txBody>
      </p:sp>
    </p:spTree>
    <p:extLst>
      <p:ext uri="{BB962C8B-B14F-4D97-AF65-F5344CB8AC3E}">
        <p14:creationId xmlns:p14="http://schemas.microsoft.com/office/powerpoint/2010/main" val="13670664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8">
            <a:extLst xmlns:a="http://schemas.openxmlformats.org/drawingml/2006/main">
              <a:ext uri="{FF2B5EF4-FFF2-40B4-BE49-F238E27FC236}">
                <a16:creationId xmlns:a16="http://schemas.microsoft.com/office/drawing/2014/main" id="{D6FB4A0A-19F3-46EA-B366-C404DE78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real gap is adoption—not a binary score</a:t>
            </a:r>
          </a:p>
        </p:txBody>
      </p:sp>
      <p:sp>
        <p:nvSpPr>
          <p:cNvPr id="2" name="source-8">
            <a:extLst xmlns:a="http://schemas.openxmlformats.org/drawingml/2006/main">
              <a:ext uri="{FF2B5EF4-FFF2-40B4-BE49-F238E27FC236}">
                <a16:creationId xmlns:a16="http://schemas.microsoft.com/office/drawing/2014/main" id="{8CD26517-C2E4-4671-AC92-7AACCDD1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DSIT &amp; Home Office, Cyber Security Breaches Survey 2025/2026; NCSC Annual Review 2025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0B843FFF-7EF6-4632-A45D-A78467E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81102-54D9-4816-8918-632712C7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Exposure is widespread. Governance and preparation remain inconsistent.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844F6-9586-4DD6-9154-3D44E659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265FB-35AD-4BED-935C-751FC562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43%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E0ACA-9A3F-4E4C-930A-8F17CF92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3840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UK businesses identifying a breach or attack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E8990-323D-48AF-972C-2C2BE42C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764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5818E9-77A9-4C07-8C01-995E80A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6220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B5580-1FC4-4B58-85BD-52CC8B89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nationally significant incidents handled by the NCSC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53C89-D566-462B-81CD-B171167A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15A9E9-C542-4582-9AA0-D669B6B4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30%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C4171C-247C-4FBA-ABDB-F5C59C75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24815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businesses completing a cyber-risk assessment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DCA1D-85C0-45F2-89E0-FE861A0C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8620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A7779-5DF1-45AA-88F2-ED288397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FDD88-7E23-4220-9426-61726C78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businesses with a formal incident-response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E1CD0-6F1C-4AEF-8D09-0F1A19B8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066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Attack prevalence measures exposure and detection—not the absence of defensive value.</a:t>
            </a:r>
          </a:p>
        </p:txBody>
      </p:sp>
    </p:spTree>
    <p:extLst>
      <p:ext uri="{BB962C8B-B14F-4D97-AF65-F5344CB8AC3E}">
        <p14:creationId xmlns:p14="http://schemas.microsoft.com/office/powerpoint/2010/main" val="59453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9">
            <a:extLst xmlns:a="http://schemas.openxmlformats.org/drawingml/2006/main">
              <a:ext uri="{FF2B5EF4-FFF2-40B4-BE49-F238E27FC236}">
                <a16:creationId xmlns:a16="http://schemas.microsoft.com/office/drawing/2014/main" id="{95F9162E-208C-4891-9C19-5E4D0EE6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Nationally significant incidents rose sharply</a:t>
            </a:r>
          </a:p>
        </p:txBody>
      </p:sp>
      <p:sp>
        <p:nvSpPr>
          <p:cNvPr id="2" name="source-9">
            <a:extLst xmlns:a="http://schemas.openxmlformats.org/drawingml/2006/main">
              <a:ext uri="{FF2B5EF4-FFF2-40B4-BE49-F238E27FC236}">
                <a16:creationId xmlns:a16="http://schemas.microsoft.com/office/drawing/2014/main" id="{FB58E03A-347A-4F0E-816B-72B61AB2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NCSC Annual Review 2025. Categories and reporting are not a complete census.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4C99680F-0639-4226-8C1C-62A56797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115E9-F814-4B66-9D9C-CC2332FB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2.3×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D1E43-5431-4D7B-A558-0BFB0222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95600"/>
            <a:ext cx="3143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more nationally significant incidents handled than the previous 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64030-5D51-4174-9753-60CC230E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00550"/>
            <a:ext cx="33337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Pressure increased—but the NCSC also states that many more attacks fail than succeed, and prepared organisations recover better.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590550" y="1466850"/>
          <a:ext xmlns:a="http://schemas.openxmlformats.org/drawingml/2006/main" cx="6667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9cf33346414b0b"/>
          </a:graphicData>
        </a:graphic>
      </p:graphicFrame>
    </p:spTree>
    <p:extLst>
      <p:ext uri="{BB962C8B-B14F-4D97-AF65-F5344CB8AC3E}">
        <p14:creationId xmlns:p14="http://schemas.microsoft.com/office/powerpoint/2010/main" val="8301006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10">
            <a:extLst xmlns:a="http://schemas.openxmlformats.org/drawingml/2006/main">
              <a:ext uri="{FF2B5EF4-FFF2-40B4-BE49-F238E27FC236}">
                <a16:creationId xmlns:a16="http://schemas.microsoft.com/office/drawing/2014/main" id="{8351C8BC-E894-46D9-89F4-0BE61918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 mistake is a design signal—not the end of the analysis</a:t>
            </a:r>
          </a:p>
        </p:txBody>
      </p:sp>
      <p:sp>
        <p:nvSpPr>
          <p:cNvPr id="2" name="source-10">
            <a:extLst xmlns:a="http://schemas.openxmlformats.org/drawingml/2006/main">
              <a:ext uri="{FF2B5EF4-FFF2-40B4-BE49-F238E27FC236}">
                <a16:creationId xmlns:a16="http://schemas.microsoft.com/office/drawing/2014/main" id="{0645BF36-9457-4EF0-B8D4-42F8ED24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NCSC secure-by-design guidance; Herley (2009)</a:t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D94F9F58-8E24-45AA-9577-5FAC3390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ABFB8-D7AB-4E7A-8CF9-847DE312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0668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If one ordinary action can create catastrophic harm, examine the architecture around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94FC0-B073-4A2B-9825-D3B82D00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90A3E-C54C-492E-9FA1-234DB9B2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REDUCE PRIVILEGE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1A283-2316-4BFB-A0E0-EA288585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account should not expose everything.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F5E5C-CF69-48C1-B394-AA557FCF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USE SAFER DEFAULTS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C6AB8-2CA3-4F04-90FF-DF524BBB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381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Strong authentication and secure setup should be the easy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500F5-DE44-47F1-9018-7F3ACA0A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MAKE REPORTING SAFE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646BC-38C3-4EF8-83E4-02CA43AD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Early honesty should reduce harm—not trigger fear.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C9175-1DC7-452C-9A53-CFB98158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DESIGN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14200-1F49-4C4E-9F31-50A4F7BE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 failure and restore trusted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7AEED5-9CFC-4FE6-8588-A6B3922A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05400"/>
            <a:ext cx="10858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Training matters. It is not a patch for an unsafe product.</a:t>
            </a:r>
          </a:p>
        </p:txBody>
      </p:sp>
    </p:spTree>
    <p:extLst>
      <p:ext uri="{BB962C8B-B14F-4D97-AF65-F5344CB8AC3E}">
        <p14:creationId xmlns:p14="http://schemas.microsoft.com/office/powerpoint/2010/main" val="16029270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11">
            <a:extLst xmlns:a="http://schemas.openxmlformats.org/drawingml/2006/main">
              <a:ext uri="{FF2B5EF4-FFF2-40B4-BE49-F238E27FC236}">
                <a16:creationId xmlns:a16="http://schemas.microsoft.com/office/drawing/2014/main" id="{4585CFD0-C98F-4129-B209-ECBC1987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AI changes both attack and defence—not accountability</a:t>
            </a:r>
          </a:p>
        </p:txBody>
      </p:sp>
      <p:sp>
        <p:nvSpPr>
          <p:cNvPr id="2" name="source-11">
            <a:extLst xmlns:a="http://schemas.openxmlformats.org/drawingml/2006/main">
              <a:ext uri="{FF2B5EF4-FFF2-40B4-BE49-F238E27FC236}">
                <a16:creationId xmlns:a16="http://schemas.microsoft.com/office/drawing/2014/main" id="{EA1C27EA-9FAF-4D9B-A958-45D76143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NIST AI RMF 1.0 and Generative AI Profile; NCSC ML security principles</a:t>
            </a:r>
          </a:p>
        </p:txBody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EF4D0D10-1F06-4A04-9FF7-10B20999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5E9E1-7860-429D-8CA3-187A162C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DEFENCE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16255-FBA2-4A8C-BE20-6345FA5D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3238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Triage alerts
Inspect code
Summarise threat intelligence
Spot unusual patterns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7EB6C-5527-4921-8266-E131B563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ATTACK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FC85B-483B-4E66-9721-731D0FCA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90700"/>
            <a:ext cx="3238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Scale convincing content
Automate reconnaissance
Search for weaknesses
Accelerate intrusion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2FB54-993F-4F01-AA53-90223900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NEW SYSTEM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8DDED6-B078-4BFC-ABBD-1D76F993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57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Training data
Model behaviour
Sensitive integrations
Over-trust in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27F6D-F8B0-4281-A4FB-6A964027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148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C4F9F-1919-429E-B1FD-CE8EBEC1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9906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Accountable people use automation with evidence, audit trails, realistic testing and a way to challenge the result.</a:t>
            </a:r>
          </a:p>
        </p:txBody>
      </p:sp>
    </p:spTree>
    <p:extLst>
      <p:ext uri="{BB962C8B-B14F-4D97-AF65-F5344CB8AC3E}">
        <p14:creationId xmlns:p14="http://schemas.microsoft.com/office/powerpoint/2010/main" val="7753972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12">
            <a:extLst xmlns:a="http://schemas.openxmlformats.org/drawingml/2006/main">
              <a:ext uri="{FF2B5EF4-FFF2-40B4-BE49-F238E27FC236}">
                <a16:creationId xmlns:a16="http://schemas.microsoft.com/office/drawing/2014/main" id="{F621531A-F453-4C07-830B-F7104709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Effective cybersecurity connects six continuous functions</a:t>
            </a:r>
          </a:p>
        </p:txBody>
      </p:sp>
      <p:sp>
        <p:nvSpPr>
          <p:cNvPr id="2" name="source-12">
            <a:extLst xmlns:a="http://schemas.openxmlformats.org/drawingml/2006/main">
              <a:ext uri="{FF2B5EF4-FFF2-40B4-BE49-F238E27FC236}">
                <a16:creationId xmlns:a16="http://schemas.microsoft.com/office/drawing/2014/main" id="{461C76EA-FA42-49EB-84AE-E138A8F7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NIST Cybersecurity Framework 2.0</a:t>
            </a:r>
          </a:p>
        </p:txBody>
      </p:sp>
      <p:sp>
        <p:nvSpPr>
          <p:cNvPr id="3" name="page-12">
            <a:extLst xmlns:a="http://schemas.openxmlformats.org/drawingml/2006/main">
              <a:ext uri="{FF2B5EF4-FFF2-40B4-BE49-F238E27FC236}">
                <a16:creationId xmlns:a16="http://schemas.microsoft.com/office/drawing/2014/main" id="{80E9F1FD-8F6D-439B-8182-B496E6DC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26B63-6246-41D6-82AC-FA035616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5" name="function-label-0">
            <a:extLst xmlns:a="http://schemas.openxmlformats.org/drawingml/2006/main">
              <a:ext uri="{FF2B5EF4-FFF2-40B4-BE49-F238E27FC236}">
                <a16:creationId xmlns:a16="http://schemas.microsoft.com/office/drawing/2014/main" id="{1A46DE28-F096-467B-9D0C-7E616C5B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GOVERN</a:t>
            </a:r>
          </a:p>
        </p:txBody>
      </p:sp>
      <p:sp>
        <p:nvSpPr>
          <p:cNvPr id="6" name="function-body-0">
            <a:extLst xmlns:a="http://schemas.openxmlformats.org/drawingml/2006/main">
              <a:ext uri="{FF2B5EF4-FFF2-40B4-BE49-F238E27FC236}">
                <a16:creationId xmlns:a16="http://schemas.microsoft.com/office/drawing/2014/main" id="{4446A1EE-0FD0-433A-A80B-3B159050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Own risk, priorities and suppliers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058D2-EEBF-40D6-BE54-DBF5B675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function-label-1">
            <a:extLst xmlns:a="http://schemas.openxmlformats.org/drawingml/2006/main">
              <a:ext uri="{FF2B5EF4-FFF2-40B4-BE49-F238E27FC236}">
                <a16:creationId xmlns:a16="http://schemas.microsoft.com/office/drawing/2014/main" id="{2561D8DE-B7D9-4D36-81F3-A60578A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62125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IDENTIFY</a:t>
            </a:r>
          </a:p>
        </p:txBody>
      </p:sp>
      <p:sp>
        <p:nvSpPr>
          <p:cNvPr id="9" name="function-body-1">
            <a:extLst xmlns:a="http://schemas.openxmlformats.org/drawingml/2006/main">
              <a:ext uri="{FF2B5EF4-FFF2-40B4-BE49-F238E27FC236}">
                <a16:creationId xmlns:a16="http://schemas.microsoft.com/office/drawing/2014/main" id="{10EE3215-98E3-4894-B9A3-4870E6A2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Know assets, dependencies and threats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936E1C-E94A-41E3-A454-0666B537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function-label-2">
            <a:extLst xmlns:a="http://schemas.openxmlformats.org/drawingml/2006/main">
              <a:ext uri="{FF2B5EF4-FFF2-40B4-BE49-F238E27FC236}">
                <a16:creationId xmlns:a16="http://schemas.microsoft.com/office/drawing/2014/main" id="{EB5D3A86-B7F9-4DD5-A6E1-FAB2DEF3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7165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PROTECT</a:t>
            </a:r>
          </a:p>
        </p:txBody>
      </p:sp>
      <p:sp>
        <p:nvSpPr>
          <p:cNvPr id="12" name="function-body-2">
            <a:extLst xmlns:a="http://schemas.openxmlformats.org/drawingml/2006/main">
              <a:ext uri="{FF2B5EF4-FFF2-40B4-BE49-F238E27FC236}">
                <a16:creationId xmlns:a16="http://schemas.microsoft.com/office/drawing/2014/main" id="{B967194C-2A00-4823-B82B-50DF15A3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Reduce likely harm with usable 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3534B-A2DF-413E-A8C1-5B6D7067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function-label-3">
            <a:extLst xmlns:a="http://schemas.openxmlformats.org/drawingml/2006/main">
              <a:ext uri="{FF2B5EF4-FFF2-40B4-BE49-F238E27FC236}">
                <a16:creationId xmlns:a16="http://schemas.microsoft.com/office/drawing/2014/main" id="{F1BED849-D36E-4592-A190-FA1B3DC0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481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DETECT</a:t>
            </a:r>
          </a:p>
        </p:txBody>
      </p:sp>
      <p:sp>
        <p:nvSpPr>
          <p:cNvPr id="15" name="function-body-3">
            <a:extLst xmlns:a="http://schemas.openxmlformats.org/drawingml/2006/main">
              <a:ext uri="{FF2B5EF4-FFF2-40B4-BE49-F238E27FC236}">
                <a16:creationId xmlns:a16="http://schemas.microsoft.com/office/drawing/2014/main" id="{1417146D-3D7F-48E3-905B-A2D2297B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Know when something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015CE-D5FD-497B-97AD-DAEC1145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7" name="function-label-4">
            <a:extLst xmlns:a="http://schemas.openxmlformats.org/drawingml/2006/main">
              <a:ext uri="{FF2B5EF4-FFF2-40B4-BE49-F238E27FC236}">
                <a16:creationId xmlns:a16="http://schemas.microsoft.com/office/drawing/2014/main" id="{8CD12405-0B55-43C8-80C7-0B3191D3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57625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RESPOND</a:t>
            </a:r>
          </a:p>
        </p:txBody>
      </p:sp>
      <p:sp>
        <p:nvSpPr>
          <p:cNvPr id="18" name="function-body-4">
            <a:extLst xmlns:a="http://schemas.openxmlformats.org/drawingml/2006/main">
              <a:ext uri="{FF2B5EF4-FFF2-40B4-BE49-F238E27FC236}">
                <a16:creationId xmlns:a16="http://schemas.microsoft.com/office/drawing/2014/main" id="{F6F5D998-D0C1-4D45-9355-334C1600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Contain, decide and communicate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A09E9-3F1A-4912-9150-567BA65E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function-label-5">
            <a:extLst xmlns:a="http://schemas.openxmlformats.org/drawingml/2006/main">
              <a:ext uri="{FF2B5EF4-FFF2-40B4-BE49-F238E27FC236}">
                <a16:creationId xmlns:a16="http://schemas.microsoft.com/office/drawing/2014/main" id="{BDA719F4-5EF9-4E2A-84A4-D28584F8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RECOVER</a:t>
            </a:r>
          </a:p>
        </p:txBody>
      </p:sp>
      <p:sp>
        <p:nvSpPr>
          <p:cNvPr id="21" name="function-body-5">
            <a:extLst xmlns:a="http://schemas.openxmlformats.org/drawingml/2006/main">
              <a:ext uri="{FF2B5EF4-FFF2-40B4-BE49-F238E27FC236}">
                <a16:creationId xmlns:a16="http://schemas.microsoft.com/office/drawing/2014/main" id="{62577BA8-EEB0-43B8-B3B6-9C9F8375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Restore trusted service and learn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B6D065-87B1-41E7-BA49-F5B32960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1047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The test is not whether a control exists. It is whether people can use it, failure is contained, and the organisation can demonstrate that it works.</a:t>
            </a:r>
          </a:p>
        </p:txBody>
      </p:sp>
    </p:spTree>
    <p:extLst>
      <p:ext uri="{BB962C8B-B14F-4D97-AF65-F5344CB8AC3E}">
        <p14:creationId xmlns:p14="http://schemas.microsoft.com/office/powerpoint/2010/main" val="14612908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13">
            <a:extLst xmlns:a="http://schemas.openxmlformats.org/drawingml/2006/main">
              <a:ext uri="{FF2B5EF4-FFF2-40B4-BE49-F238E27FC236}">
                <a16:creationId xmlns:a16="http://schemas.microsoft.com/office/drawing/2014/main" id="{3E14B6BC-3DB5-4A68-8367-E8CBC31F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research became a safer decision workflow</a:t>
            </a:r>
          </a:p>
        </p:txBody>
      </p:sp>
      <p:sp>
        <p:nvSpPr>
          <p:cNvPr id="2" name="source-13">
            <a:extLst xmlns:a="http://schemas.openxmlformats.org/drawingml/2006/main">
              <a:ext uri="{FF2B5EF4-FFF2-40B4-BE49-F238E27FC236}">
                <a16:creationId xmlns:a16="http://schemas.microsoft.com/office/drawing/2014/main" id="{7DBE529B-A12B-49DC-969C-CA138C84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13">
            <a:extLst xmlns:a="http://schemas.openxmlformats.org/drawingml/2006/main">
              <a:ext uri="{FF2B5EF4-FFF2-40B4-BE49-F238E27FC236}">
                <a16:creationId xmlns:a16="http://schemas.microsoft.com/office/drawing/2014/main" id="{77CCB5AF-F523-44C6-8F82-3DC3A6CD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AF9D7-771F-4F6C-B00F-CB5A9FAA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4667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Device Provisioning Toolkit does not certify perfect safety.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E37D24-E1BE-4592-9519-667ACED3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466725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It discovers devices, compares relevant security signals and produces a tailored hardening guide—turning evidence into a repeatable, auditable next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BC751-3E78-4353-A6C2-A083709D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EPQ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6B2AF-2F90-4BC9-A336-9E5461F0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86350"/>
            <a:ext cx="1790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is never finished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F3EA9-9119-4E13-B462-10124E33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863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UNDERGRADUATE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DF786-3134-4B3A-83AD-A61B08C9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86350"/>
            <a:ext cx="2000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Device choices need clearer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4D68D-2B9C-483A-B05E-CB29CF17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86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PRODUCT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75CFF-6E9A-4B99-B124-20622CF5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86350"/>
            <a:ext cx="1714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Make the safer action easier</a:t>
            </a:r>
          </a:p>
        </p:txBody>
      </p:sp>
      <p:sp>
        <p:nvSpPr>
          <p:cNvPr id="12" name="home-frame">
            <a:extLst xmlns:a="http://schemas.openxmlformats.org/drawingml/2006/main">
              <a:ext uri="{FF2B5EF4-FFF2-40B4-BE49-F238E27FC236}">
                <a16:creationId xmlns:a16="http://schemas.microsoft.com/office/drawing/2014/main" id="{21349B99-397A-4E84-ACC9-02F45A5A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19200"/>
            <a:ext cx="2266950" cy="45720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13" name="guide-frame">
            <a:extLst xmlns:a="http://schemas.openxmlformats.org/drawingml/2006/main">
              <a:ext uri="{FF2B5EF4-FFF2-40B4-BE49-F238E27FC236}">
                <a16:creationId xmlns:a16="http://schemas.microsoft.com/office/drawing/2014/main" id="{38195234-97A2-499E-B978-CE4A8AE9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219200"/>
            <a:ext cx="2266950" cy="45720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eecb365d7449a"/>
          <a:stretch xmlns:a="http://schemas.openxmlformats.org/drawingml/2006/main"/>
        </p:blipFill>
        <p:spPr>
          <a:xfrm xmlns:a="http://schemas.openxmlformats.org/drawingml/2006/main">
            <a:off x="6591300" y="1683242"/>
            <a:ext cx="2038350" cy="3624866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29af2adbf4142"/>
          <a:stretch xmlns:a="http://schemas.openxmlformats.org/drawingml/2006/main"/>
        </p:blipFill>
        <p:spPr>
          <a:xfrm xmlns:a="http://schemas.openxmlformats.org/drawingml/2006/main">
            <a:off x="9277350" y="1568585"/>
            <a:ext cx="2038350" cy="38541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8929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2F7FC-E59F-427D-B89E-3B2E53F7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THE 2026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0CF33-6AA8-41BF-852E-91DD7D56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28700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Cybersecurity can keep pace—when it is continuous, governed, usable and designed for recovery.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D923A-7461-4CC3-8AC4-1A367A92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685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Next: “How do we decide what we provide?” and the Device Provisioning Toolkit</a:t>
            </a:r>
          </a:p>
        </p:txBody>
      </p:sp>
      <p:sp>
        <p:nvSpPr>
          <p:cNvPr id="4" name="source-14">
            <a:extLst xmlns:a="http://schemas.openxmlformats.org/drawingml/2006/main">
              <a:ext uri="{FF2B5EF4-FFF2-40B4-BE49-F238E27FC236}">
                <a16:creationId xmlns:a16="http://schemas.microsoft.com/office/drawing/2014/main" id="{72BC433F-3AFA-4A37-8C00-44802AA2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5" name="page-14">
            <a:extLst xmlns:a="http://schemas.openxmlformats.org/drawingml/2006/main">
              <a:ext uri="{FF2B5EF4-FFF2-40B4-BE49-F238E27FC236}">
                <a16:creationId xmlns:a16="http://schemas.microsoft.com/office/drawing/2014/main" id="{730DCAEE-E2BD-421B-9711-2ECCB2ED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12054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Nathan Brown-Bennett</dc:creator>
  <cp:lastModifiedBy>Nathan Brown-Bennett</cp:lastModifiedBy>
  <dc:title>Can cybersecurity keep pace with modern digital risk?</dc:title>
  <dcterms:created xsi:type="dcterms:W3CDTF">2026-07-19T16:10:36.6620000Z</dcterms:created>
  <dcterms:modified xsi:type="dcterms:W3CDTF">2026-07-19T16:10:36.6620000Z</dcterms:modified>
</cp:coreProperties>
</file>