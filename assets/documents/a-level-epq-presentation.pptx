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bcad4abe364b59" /><Relationship Type="http://schemas.openxmlformats.org/officeDocument/2006/relationships/extended-properties" Target="/docProps/app.xml" Id="R659c6450de2b4356" /><Relationship Type="http://schemas.openxmlformats.org/officeDocument/2006/relationships/officeDocument" Target="/ppt/presentation.xml" Id="R5158f3ed5ac64d9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2ef28e8def543e7"/>
  </p:sldMasterIdLst>
  <p:notesMasterIdLst>
    <p:notesMasterId xmlns:r="http://schemas.openxmlformats.org/officeDocument/2006/relationships" r:id="Rf4c201e9c81143fe"/>
  </p:notesMasterIdLst>
  <p:sldIdLst>
    <p:sldId xmlns:r="http://schemas.openxmlformats.org/officeDocument/2006/relationships" id="256" r:id="Ra3db71a27a6d434d"/>
    <p:sldId xmlns:r="http://schemas.openxmlformats.org/officeDocument/2006/relationships" id="257" r:id="Reccd75ece4724540"/>
    <p:sldId xmlns:r="http://schemas.openxmlformats.org/officeDocument/2006/relationships" id="258" r:id="R98c8d073038b4733"/>
    <p:sldId xmlns:r="http://schemas.openxmlformats.org/officeDocument/2006/relationships" id="259" r:id="R063dbe4f57ff45df"/>
    <p:sldId xmlns:r="http://schemas.openxmlformats.org/officeDocument/2006/relationships" id="260" r:id="Rf6aa79b14a4e4d35"/>
    <p:sldId xmlns:r="http://schemas.openxmlformats.org/officeDocument/2006/relationships" id="261" r:id="R1d510561d9524264"/>
    <p:sldId xmlns:r="http://schemas.openxmlformats.org/officeDocument/2006/relationships" id="262" r:id="R058a1fa0ab664e95"/>
    <p:sldId xmlns:r="http://schemas.openxmlformats.org/officeDocument/2006/relationships" id="263" r:id="Rbef37c032a35491f"/>
    <p:sldId xmlns:r="http://schemas.openxmlformats.org/officeDocument/2006/relationships" id="264" r:id="R2c1f9df41a1a4038"/>
    <p:sldId xmlns:r="http://schemas.openxmlformats.org/officeDocument/2006/relationships" id="265" r:id="Re53eebe4c80e48f6"/>
    <p:sldId xmlns:r="http://schemas.openxmlformats.org/officeDocument/2006/relationships" id="266" r:id="R49664143a59345c6"/>
    <p:sldId xmlns:r="http://schemas.openxmlformats.org/officeDocument/2006/relationships" id="267" r:id="R0455b9ecfb6e487b"/>
    <p:sldId xmlns:r="http://schemas.openxmlformats.org/officeDocument/2006/relationships" id="268" r:id="Rf591b2c810cb47ed"/>
    <p:sldId xmlns:r="http://schemas.openxmlformats.org/officeDocument/2006/relationships" id="269" r:id="R35b781733b834bd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acd8a2645c04b2b" /><Relationship Type="http://schemas.openxmlformats.org/officeDocument/2006/relationships/slideMaster" Target="/ppt/slideMasters/slideMaster1.xml" Id="R62ef28e8def543e7" /><Relationship Type="http://schemas.openxmlformats.org/officeDocument/2006/relationships/notesMaster" Target="/ppt/notesMasters/notesMaster1.xml" Id="Rf4c201e9c81143fe" /><Relationship Type="http://schemas.openxmlformats.org/officeDocument/2006/relationships/presProps" Target="/ppt/presProps.xml" Id="Red1a1941c1fe4fbc" /><Relationship Type="http://schemas.openxmlformats.org/officeDocument/2006/relationships/tableStyles" Target="/ppt/tableStyles.xml" Id="R47db8e63658847a5" /><Relationship Type="http://schemas.openxmlformats.org/officeDocument/2006/relationships/slide" Target="/ppt/slides/slide1.xml" Id="Ra3db71a27a6d434d" /><Relationship Type="http://schemas.openxmlformats.org/officeDocument/2006/relationships/slide" Target="/ppt/slides/slide2.xml" Id="Reccd75ece4724540" /><Relationship Type="http://schemas.openxmlformats.org/officeDocument/2006/relationships/slide" Target="/ppt/slides/slide3.xml" Id="R98c8d073038b4733" /><Relationship Type="http://schemas.openxmlformats.org/officeDocument/2006/relationships/slide" Target="/ppt/slides/slide4.xml" Id="R063dbe4f57ff45df" /><Relationship Type="http://schemas.openxmlformats.org/officeDocument/2006/relationships/slide" Target="/ppt/slides/slide5.xml" Id="Rf6aa79b14a4e4d35" /><Relationship Type="http://schemas.openxmlformats.org/officeDocument/2006/relationships/slide" Target="/ppt/slides/slide6.xml" Id="R1d510561d9524264" /><Relationship Type="http://schemas.openxmlformats.org/officeDocument/2006/relationships/slide" Target="/ppt/slides/slide7.xml" Id="R058a1fa0ab664e95" /><Relationship Type="http://schemas.openxmlformats.org/officeDocument/2006/relationships/slide" Target="/ppt/slides/slide8.xml" Id="Rbef37c032a35491f" /><Relationship Type="http://schemas.openxmlformats.org/officeDocument/2006/relationships/slide" Target="/ppt/slides/slide9.xml" Id="R2c1f9df41a1a4038" /><Relationship Type="http://schemas.openxmlformats.org/officeDocument/2006/relationships/slide" Target="/ppt/slides/slide10.xml" Id="Re53eebe4c80e48f6" /><Relationship Type="http://schemas.openxmlformats.org/officeDocument/2006/relationships/slide" Target="/ppt/slides/slide11.xml" Id="R49664143a59345c6" /><Relationship Type="http://schemas.openxmlformats.org/officeDocument/2006/relationships/slide" Target="/ppt/slides/slide12.xml" Id="R0455b9ecfb6e487b" /><Relationship Type="http://schemas.openxmlformats.org/officeDocument/2006/relationships/slide" Target="/ppt/slides/slide13.xml" Id="Rf591b2c810cb47ed" /><Relationship Type="http://schemas.openxmlformats.org/officeDocument/2006/relationships/slide" Target="/ppt/slides/slide14.xml" Id="R35b781733b834bd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06a2a63eeb40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5b22c641dd412c" /><Relationship Type="http://schemas.openxmlformats.org/officeDocument/2006/relationships/notesMaster" Target="/ppt/notesMasters/notesMaster1.xml" Id="Rbc1a51b7ce394ad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e656d9bd8442f5" /><Relationship Type="http://schemas.openxmlformats.org/officeDocument/2006/relationships/notesMaster" Target="/ppt/notesMasters/notesMaster1.xml" Id="Re214c142fd8248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d2e1f7c99734116" /><Relationship Type="http://schemas.openxmlformats.org/officeDocument/2006/relationships/notesMaster" Target="/ppt/notesMasters/notesMaster1.xml" Id="R550ced5cfc67480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ece2f1ad6d74ee3" /><Relationship Type="http://schemas.openxmlformats.org/officeDocument/2006/relationships/notesMaster" Target="/ppt/notesMasters/notesMaster1.xml" Id="R1fcabb2f08594e7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211778489ca4d9d" /><Relationship Type="http://schemas.openxmlformats.org/officeDocument/2006/relationships/notesMaster" Target="/ppt/notesMasters/notesMaster1.xml" Id="R06cf4a3fa006405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ccf97ea3eae4755" /><Relationship Type="http://schemas.openxmlformats.org/officeDocument/2006/relationships/notesMaster" Target="/ppt/notesMasters/notesMaster1.xml" Id="R265c077895b544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ce53760166b4b36" /><Relationship Type="http://schemas.openxmlformats.org/officeDocument/2006/relationships/notesMaster" Target="/ppt/notesMasters/notesMaster1.xml" Id="Rbc876a6056fb469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336e6cb3374d29" /><Relationship Type="http://schemas.openxmlformats.org/officeDocument/2006/relationships/notesMaster" Target="/ppt/notesMasters/notesMaster1.xml" Id="Rbd441f5365064ca1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7e2ab9afa46497c" /><Relationship Type="http://schemas.openxmlformats.org/officeDocument/2006/relationships/notesMaster" Target="/ppt/notesMasters/notesMaster1.xml" Id="Red1d9569a4b34d3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9a6da1edc04aa9" /><Relationship Type="http://schemas.openxmlformats.org/officeDocument/2006/relationships/notesMaster" Target="/ppt/notesMasters/notesMaster1.xml" Id="Rbbae7e3a7db3438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2d996f3dd6a4453" /><Relationship Type="http://schemas.openxmlformats.org/officeDocument/2006/relationships/notesMaster" Target="/ppt/notesMasters/notesMaster1.xml" Id="R9dccb9ac7f734f5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b997beed1f24583" /><Relationship Type="http://schemas.openxmlformats.org/officeDocument/2006/relationships/notesMaster" Target="/ppt/notesMasters/notesMaster1.xml" Id="R144bc88d0915401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40933fb4efd4ea0" /><Relationship Type="http://schemas.openxmlformats.org/officeDocument/2006/relationships/notesMaster" Target="/ppt/notesMasters/notesMaster1.xml" Id="Rb1f72053fccd481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51dc34927d644f8" /><Relationship Type="http://schemas.openxmlformats.org/officeDocument/2006/relationships/notesMaster" Target="/ppt/notesMasters/notesMaster1.xml" Id="R272cf8a7bcfe4c4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original question and explain that this is a critical revision, not a replacement of the assessed submission.</a:t>
            </a:r>
          </a:p>
          <a:p xmlns:a="http://schemas.openxmlformats.org/drawingml/2006/main">
            <a:r>
              <a:t>The imperfect wording contains the long-term product question: how can protection be practical enough to use and strong enough to matter?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series follows the intellectual lineage, including what changed—not just finished outputs.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term security is contextual. A control can reduce risk without making the system permanently safe.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protected boundary first. The same incident can cross all four fields.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 title alone does not prove the scope. Ask what the role owns, can change and must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scenario to show overlap without collapsing the fields into synonyms.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reflective rather than dismissive. Show development in judgement and methodology.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survey caveat: unidentified and undisclosed incidents mean prevalence is not a complete count.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increase to establish urgency, then immediately avoid the false conclusion that every incident means all defence failed.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revised work does not deny mistakes. It widens responsibility to defaults, permissions, interfaces, incentives and recovery.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Replace the old person-versus-machine framing with accountable augmentation.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Govern was added explicitly in CSF 2.0. Security is an enterprise decision, not only a technical team activity.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real current screens. State that this is a research prototype and generated guidance requires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by resolving the opening question, then introduce the next episode.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237217975d943f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55aba3389f54264" /><Relationship Type="http://schemas.openxmlformats.org/officeDocument/2006/relationships/slideLayout" Target="/ppt/slideLayouts/slideLayout1.xml" Id="R5fba90d94819463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ba90d94819463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99c5b7c11c49a0" /><Relationship Type="http://schemas.openxmlformats.org/officeDocument/2006/relationships/image" Target="/ppt/media/image.png" Id="Rbaa0f97faffc4468" /><Relationship Type="http://schemas.openxmlformats.org/officeDocument/2006/relationships/notesSlide" Target="/ppt/notesSlides/notesSlide1.xml" Id="R72dee96a8396491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a2d24e379f47d7" /><Relationship Type="http://schemas.openxmlformats.org/officeDocument/2006/relationships/notesSlide" Target="/ppt/notesSlides/notesSlide2.xml" Id="R531e80291c75436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a3c8b9d17c4cdd" /><Relationship Type="http://schemas.openxmlformats.org/officeDocument/2006/relationships/notesSlide" Target="/ppt/notesSlides/notesSlide3.xml" Id="R85f5c375aa18444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0c4dca97d744c4" /><Relationship Type="http://schemas.openxmlformats.org/officeDocument/2006/relationships/notesSlide" Target="/ppt/notesSlides/notesSlide4.xml" Id="R098e099d24a044c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fddf3aa3374b70" /><Relationship Type="http://schemas.openxmlformats.org/officeDocument/2006/relationships/notesSlide" Target="/ppt/notesSlides/notesSlide5.xml" Id="R1a54fe32b5b141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cd5f0f92a64a24" /><Relationship Type="http://schemas.openxmlformats.org/officeDocument/2006/relationships/notesSlide" Target="/ppt/notesSlides/notesSlide6.xml" Id="Rb4432bb2fb2d4b4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471b877cd14781" /><Relationship Type="http://schemas.openxmlformats.org/officeDocument/2006/relationships/notesSlide" Target="/ppt/notesSlides/notesSlide7.xml" Id="R34daa384c60c43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6d1d60fffe405b" /><Relationship Type="http://schemas.openxmlformats.org/officeDocument/2006/relationships/notesSlide" Target="/ppt/notesSlides/notesSlide8.xml" Id="Rc6c51c373fd841c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9db59a2994c04" /><Relationship Type="http://schemas.openxmlformats.org/officeDocument/2006/relationships/chart" Target="/ppt/slides/charts/chart1.xml" Id="Rc1939d4acd3a4976" /><Relationship Type="http://schemas.openxmlformats.org/officeDocument/2006/relationships/notesSlide" Target="/ppt/notesSlides/notesSlide9.xml" Id="Rf49858e2b884483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c095fb3cf24662" /><Relationship Type="http://schemas.openxmlformats.org/officeDocument/2006/relationships/notesSlide" Target="/ppt/notesSlides/notesSlide10.xml" Id="R2cf7c1db6d384d1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086a856aa84659" /><Relationship Type="http://schemas.openxmlformats.org/officeDocument/2006/relationships/notesSlide" Target="/ppt/notesSlides/notesSlide11.xml" Id="Rb6c504ab51c4409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4f66e4b1db4d5a" /><Relationship Type="http://schemas.openxmlformats.org/officeDocument/2006/relationships/notesSlide" Target="/ppt/notesSlides/notesSlide12.xml" Id="R9f9647faee324f5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c09b4eda464d55" /><Relationship Type="http://schemas.openxmlformats.org/officeDocument/2006/relationships/image" Target="/ppt/media/image2.png" Id="R6d1a85fd84c04427" /><Relationship Type="http://schemas.openxmlformats.org/officeDocument/2006/relationships/image" Target="/ppt/media/image3.png" Id="Rdb61bae263814d83" /><Relationship Type="http://schemas.openxmlformats.org/officeDocument/2006/relationships/notesSlide" Target="/ppt/notesSlides/notesSlide13.xml" Id="Rade0c5ba796a4aa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2cbe2407eb46ce" /><Relationship Type="http://schemas.openxmlformats.org/officeDocument/2006/relationships/notesSlide" Target="/ppt/notesSlides/notesSlide14.xml" Id="R9e380952cb1240a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Incidents</c:v>
          </c:tx>
          <c:spPr>
            <a:solidFill xmlns:a="http://schemas.openxmlformats.org/drawingml/2006/main">
              <a:srgbClr val="14B8A6"/>
            </a:solidFill>
          </c:spPr>
          <c:cat>
            <c:strLit>
              <c:ptCount val="2"/>
              <c:pt idx="0">
                <c:v>2023–24</c:v>
              </c:pt>
              <c:pt idx="1">
                <c:v>2024–25</c:v>
              </c:pt>
            </c:strLit>
          </c:cat>
          <c:val>
            <c:numLit>
              <c:formatCode>General</c:formatCode>
              <c:ptCount val="2"/>
              <c:pt idx="0">
                <c:v>89</c:v>
              </c:pt>
              <c:pt idx="1">
                <c:v>204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350" b="1">
                  <a:solidFill>
                    <a:srgbClr val="0F172A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47556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8F0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475569"/>
                </a:solidFill>
              </a:defRPr>
            </a:pPr>
          </a:p>
        </c:txPr>
        <c:crossAx val="48650112"/>
        <c:crossBetween val="between"/>
        <c:majorUnit val="5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164E69-074D-4B51-9138-5EE4C2E01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4953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RESEARCH NOTES / EPISODE 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7F58D4-C334-4279-9BAF-408261899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71600"/>
            <a:ext cx="5334000" cy="2076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Can cybersecurity keep pace with modern digital risk?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D80C2E-9B4A-4B8B-A80F-489192299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86200"/>
            <a:ext cx="5143500" cy="1123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A 2026 reappraisal of my first A-level dissertation—and the question that led towards safer product decisions.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FCBAEB-1CF5-45C4-A8C2-25B85CDEA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5143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Nathan Brown-Bennett  ·  Revised July 2026</a:t>
            </a:r>
          </a:p>
        </p:txBody>
      </p:sp>
      <p:sp>
        <p:nvSpPr>
          <p:cNvPr id="5" name="cover-image-backing">
            <a:extLst xmlns:a="http://schemas.openxmlformats.org/drawingml/2006/main">
              <a:ext uri="{FF2B5EF4-FFF2-40B4-BE49-F238E27FC236}">
                <a16:creationId xmlns:a16="http://schemas.microsoft.com/office/drawing/2014/main" id="{9E54BAD5-3EFE-45C8-B59F-58E663A8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0050"/>
            <a:ext cx="5524500" cy="5600700"/>
          </a:xfrm>
          <a:prstGeom xmlns:a="http://schemas.openxmlformats.org/drawingml/2006/main" prst="roundRect">
            <a:avLst>
              <a:gd name="adj" fmla="val 1379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6" name="source-1">
            <a:extLst xmlns:a="http://schemas.openxmlformats.org/drawingml/2006/main">
              <a:ext uri="{FF2B5EF4-FFF2-40B4-BE49-F238E27FC236}">
                <a16:creationId xmlns:a16="http://schemas.microsoft.com/office/drawing/2014/main" id="{183EB84A-3571-42FB-BC22-19F1E6E4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7" name="page-1">
            <a:extLst xmlns:a="http://schemas.openxmlformats.org/drawingml/2006/main">
              <a:ext uri="{FF2B5EF4-FFF2-40B4-BE49-F238E27FC236}">
                <a16:creationId xmlns:a16="http://schemas.microsoft.com/office/drawing/2014/main" id="{BB454D1B-966A-4191-AB1B-7A955E900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1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0f97faffc4468"/>
          <a:stretch xmlns:a="http://schemas.openxmlformats.org/drawingml/2006/main"/>
        </p:blipFill>
        <p:spPr>
          <a:xfrm xmlns:a="http://schemas.openxmlformats.org/drawingml/2006/main">
            <a:off x="7184536" y="590550"/>
            <a:ext cx="3690328" cy="52197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60547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itle-2">
            <a:extLst xmlns:a="http://schemas.openxmlformats.org/drawingml/2006/main">
              <a:ext uri="{FF2B5EF4-FFF2-40B4-BE49-F238E27FC236}">
                <a16:creationId xmlns:a16="http://schemas.microsoft.com/office/drawing/2014/main" id="{20900B2A-450F-44AA-9639-B1565065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One question became a research-to-product thread</a:t>
            </a:r>
          </a:p>
        </p:txBody>
      </p:sp>
      <p:sp>
        <p:nvSpPr>
          <p:cNvPr id="2" name="source-2">
            <a:extLst xmlns:a="http://schemas.openxmlformats.org/drawingml/2006/main">
              <a:ext uri="{FF2B5EF4-FFF2-40B4-BE49-F238E27FC236}">
                <a16:creationId xmlns:a16="http://schemas.microsoft.com/office/drawing/2014/main" id="{D9D89DD3-2E6C-428E-8AF8-A0065B7CF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3" name="page-2">
            <a:extLst xmlns:a="http://schemas.openxmlformats.org/drawingml/2006/main">
              <a:ext uri="{FF2B5EF4-FFF2-40B4-BE49-F238E27FC236}">
                <a16:creationId xmlns:a16="http://schemas.microsoft.com/office/drawing/2014/main" id="{8F6AF70E-1258-4AF6-B60B-52111639B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E9E9A1-261C-4AFD-A3A2-297AEB28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1C6F94-B073-41A2-A3CE-E42A6B31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1718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E09E8F-F2B0-4559-8420-BFA5B849B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1718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24F56B-4E85-4673-8851-587981616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1718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87B25F-DE19-4037-8130-4203799AE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86050"/>
            <a:ext cx="1333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2020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1F5E49-BD61-47E4-A4AD-48424516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8605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Undergraduate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0B8B6F-B3F7-4751-9F75-4F4BB503D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68605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Product prototype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074D4D-12B7-4944-86AC-FF72BA9A3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14750"/>
            <a:ext cx="27813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A-level EPQ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BAB6DD-A096-428D-8D09-F037C562D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48150"/>
            <a:ext cx="27813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Why is protection hard to understand and apply?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C7B0BD-ED03-486D-AAB7-FBB568462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714750"/>
            <a:ext cx="314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“How do we decide what we provide?”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A0BD92D-F1A7-4601-9264-0CD82BA6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476750"/>
            <a:ext cx="31432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How can device evidence support a real decision?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FB09279-40BC-4DA0-AC72-50ADFC18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714750"/>
            <a:ext cx="31432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Device Provisioning Toolkit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8A56F2-3AEC-4E4F-A3EB-B1B768BE2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476750"/>
            <a:ext cx="31432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Turn evidence into a safer, repeatable and auditable workflow.</a:t>
            </a:r>
          </a:p>
        </p:txBody>
      </p:sp>
    </p:spTree>
    <p:extLst>
      <p:ext uri="{BB962C8B-B14F-4D97-AF65-F5344CB8AC3E}">
        <p14:creationId xmlns:p14="http://schemas.microsoft.com/office/powerpoint/2010/main" val="69659393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itle-3">
            <a:extLst xmlns:a="http://schemas.openxmlformats.org/drawingml/2006/main">
              <a:ext uri="{FF2B5EF4-FFF2-40B4-BE49-F238E27FC236}">
                <a16:creationId xmlns:a16="http://schemas.microsoft.com/office/drawing/2014/main" id="{BBFD0A68-F51D-44CB-8230-E1E0CD55C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Security is managed harm reduction—not a guarantee</a:t>
            </a:r>
          </a:p>
        </p:txBody>
      </p:sp>
      <p:sp>
        <p:nvSpPr>
          <p:cNvPr id="2" name="source-3">
            <a:extLst xmlns:a="http://schemas.openxmlformats.org/drawingml/2006/main">
              <a:ext uri="{FF2B5EF4-FFF2-40B4-BE49-F238E27FC236}">
                <a16:creationId xmlns:a16="http://schemas.microsoft.com/office/drawing/2014/main" id="{FC815AB7-DC9F-416E-A397-4EF96F320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3" name="page-3">
            <a:extLst xmlns:a="http://schemas.openxmlformats.org/drawingml/2006/main">
              <a:ext uri="{FF2B5EF4-FFF2-40B4-BE49-F238E27FC236}">
                <a16:creationId xmlns:a16="http://schemas.microsoft.com/office/drawing/2014/main" id="{B4DE3084-7FA8-474C-96BD-AD6C068D8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3D4CC7-C504-4296-BCE2-1926B9C01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52550"/>
            <a:ext cx="7715250" cy="1447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A security decision identifies something of value, the threats and weaknesses that could affect it, the likely consequence, and the controls proportionate to that risk.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835AA9-0B83-48E6-8896-775C712F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390650"/>
            <a:ext cx="276225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A practical 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4FA1D6-18F5-4572-B8EC-BAD21824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847850"/>
            <a:ext cx="2952750" cy="2000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What are we protecting?
From which harm?
Who owns the decision?
How will we know the control works?
What happens when it fails?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954958-3F5B-4A13-A3D1-578C792B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2A6381-CD89-44C6-83B0-0E8F88FF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419600"/>
            <a:ext cx="20955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CONFIDENTIALITY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14C308-E12C-482E-94D5-C4294DA7F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819650"/>
            <a:ext cx="20955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Prevent unauthorised disclosure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4502BB-897F-4202-8181-738DE019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419600"/>
            <a:ext cx="1905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INTEGRITY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F12087-8D69-4F5F-A538-11499A5F9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819650"/>
            <a:ext cx="20002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Prevent unauthorised change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489380-50CC-4A61-A2B3-55E8972C2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419600"/>
            <a:ext cx="2000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AVAILABILITY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6B7479-C4B9-4F06-BB63-0BEBD715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819650"/>
            <a:ext cx="20955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Keep authorised access and service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D8C48D-7552-4946-B7A9-2C713BDE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419600"/>
            <a:ext cx="2000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RESILIENCE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C5EB81-D6B1-43EE-90DE-EC029562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819650"/>
            <a:ext cx="20955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Contain disruption and restore trust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17E4C9D-2843-48EF-A5DB-4AFFF395C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419600"/>
            <a:ext cx="18097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CONTEXT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6283AB-B8CA-4E33-84F8-91A4D437E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819650"/>
            <a:ext cx="1809750" cy="762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Add safety, privacy, authenticity and accountability where needed</a:t>
            </a:r>
          </a:p>
        </p:txBody>
      </p:sp>
    </p:spTree>
    <p:extLst>
      <p:ext uri="{BB962C8B-B14F-4D97-AF65-F5344CB8AC3E}">
        <p14:creationId xmlns:p14="http://schemas.microsoft.com/office/powerpoint/2010/main" val="5115742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itle-4">
            <a:extLst xmlns:a="http://schemas.openxmlformats.org/drawingml/2006/main">
              <a:ext uri="{FF2B5EF4-FFF2-40B4-BE49-F238E27FC236}">
                <a16:creationId xmlns:a16="http://schemas.microsoft.com/office/drawing/2014/main" id="{6B2F8784-0CB2-4225-8980-8BD53C469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The security fields overlap—but protect different boundaries</a:t>
            </a:r>
          </a:p>
        </p:txBody>
      </p:sp>
      <p:sp>
        <p:nvSpPr>
          <p:cNvPr id="2" name="source-4">
            <a:extLst xmlns:a="http://schemas.openxmlformats.org/drawingml/2006/main">
              <a:ext uri="{FF2B5EF4-FFF2-40B4-BE49-F238E27FC236}">
                <a16:creationId xmlns:a16="http://schemas.microsoft.com/office/drawing/2014/main" id="{7207E0EE-6CF2-4173-99CB-4992978E0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von Solms &amp; van Niekerk (2013); NIST CSF 2.0</a:t>
            </a:r>
          </a:p>
        </p:txBody>
      </p:sp>
      <p:sp>
        <p:nvSpPr>
          <p:cNvPr id="3" name="page-4">
            <a:extLst xmlns:a="http://schemas.openxmlformats.org/drawingml/2006/main">
              <a:ext uri="{FF2B5EF4-FFF2-40B4-BE49-F238E27FC236}">
                <a16:creationId xmlns:a16="http://schemas.microsoft.com/office/drawing/2014/main" id="{D4A0B689-FAB7-4BFB-8D5F-6CD406E69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EA2645-1F43-4CB3-8D13-56861F435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314450"/>
            <a:ext cx="2381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FIELD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028846-17D1-4730-A002-7E77AFF7B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314450"/>
            <a:ext cx="3143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PRIMARY BOUNDARY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EE807E-D31C-4283-B836-F9432F0D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314450"/>
            <a:ext cx="495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WHAT IT HANDLES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584F96-271F-491A-9020-EFF18A1DA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BAF204-86B6-4C8B-9557-80ACC1E91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2381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Computer security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03D5F9-FA6E-4CC6-9D10-6E89A4334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1790700"/>
            <a:ext cx="3143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One device or computing system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DC7A18-1AAD-41AA-BB65-25B996C2A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1790700"/>
            <a:ext cx="5048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OS, software, memory, storage, local data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4AC032-F3B3-4E5E-9034-0FBBC0451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E96B22-1934-4BF9-8288-89D7D13D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81300"/>
            <a:ext cx="2381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IT security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A1E3E41-8931-4494-947E-09F3C745C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781300"/>
            <a:ext cx="3143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An organisation’s technology estate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CB18DFF-E436-428C-841C-5CC774054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781300"/>
            <a:ext cx="5048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Devices, identities, networks, cloud, applications, backups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4499E7-C89E-4817-B3F1-6D6D08E71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004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FEBBF0-6BE9-4710-81E3-AD890735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71900"/>
            <a:ext cx="2381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Information security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4CA7D5D-125B-4434-BD92-E8A6DB46F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771900"/>
            <a:ext cx="3143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Information in any form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7D1EC0-0DF7-4656-B415-1A68B6A85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771900"/>
            <a:ext cx="5048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Digital, paper or spoken information; confidentiality, integrity, availability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2B60E6-7D3B-46AC-912C-1A00306A4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4C41BE9-A779-40E1-B229-EBFDDFA9F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62500"/>
            <a:ext cx="2381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Cybersecurity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5385EE-39CC-490E-BDFA-FCABA62F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4762500"/>
            <a:ext cx="314325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Harm through connected digital systems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B89E26C-5EB8-46CA-9930-BB54FA039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762500"/>
            <a:ext cx="5048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Technology, information, people, services and physical processes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F78B0A-7857-4F74-A75E-0317397A0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86450"/>
            <a:ext cx="7620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The labels clarify ownership. They should not create silos.</a:t>
            </a:r>
          </a:p>
        </p:txBody>
      </p:sp>
    </p:spTree>
    <p:extLst>
      <p:ext uri="{BB962C8B-B14F-4D97-AF65-F5344CB8AC3E}">
        <p14:creationId xmlns:p14="http://schemas.microsoft.com/office/powerpoint/2010/main" val="14992721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title-5">
            <a:extLst xmlns:a="http://schemas.openxmlformats.org/drawingml/2006/main">
              <a:ext uri="{FF2B5EF4-FFF2-40B4-BE49-F238E27FC236}">
                <a16:creationId xmlns:a16="http://schemas.microsoft.com/office/drawing/2014/main" id="{B75BD45B-AD79-4D53-B674-F8F2BB29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Roles are organised around outputs—not universal job titles</a:t>
            </a:r>
          </a:p>
        </p:txBody>
      </p:sp>
      <p:sp>
        <p:nvSpPr>
          <p:cNvPr id="2" name="source-5">
            <a:extLst xmlns:a="http://schemas.openxmlformats.org/drawingml/2006/main">
              <a:ext uri="{FF2B5EF4-FFF2-40B4-BE49-F238E27FC236}">
                <a16:creationId xmlns:a16="http://schemas.microsoft.com/office/drawing/2014/main" id="{C585375F-900B-410B-99B0-6B827F69C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3" name="page-5">
            <a:extLst xmlns:a="http://schemas.openxmlformats.org/drawingml/2006/main">
              <a:ext uri="{FF2B5EF4-FFF2-40B4-BE49-F238E27FC236}">
                <a16:creationId xmlns:a16="http://schemas.microsoft.com/office/drawing/2014/main" id="{8B9330F1-7BA3-46E9-8681-7BE44DE15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870E58-12E8-4072-A206-8ED66B9C6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5240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FIELD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9100CE-EE17-4CE5-AE74-301409817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276350"/>
            <a:ext cx="40957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TYPICAL ROLES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8349F0-A5B4-4B11-9368-E93C23123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276350"/>
            <a:ext cx="47625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ACCOUNTABLE OUTPUTS</a:t>
            </a:r>
          </a:p>
        </p:txBody>
      </p:sp>
      <p:sp>
        <p:nvSpPr>
          <p:cNvPr id="7" name="role-row-0">
            <a:extLst xmlns:a="http://schemas.openxmlformats.org/drawingml/2006/main">
              <a:ext uri="{FF2B5EF4-FFF2-40B4-BE49-F238E27FC236}">
                <a16:creationId xmlns:a16="http://schemas.microsoft.com/office/drawing/2014/main" id="{CE86C427-4AC9-40C5-989C-1FC593F7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57350"/>
            <a:ext cx="11029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00C39-53FC-4B7C-86DE-42EF15C3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885950"/>
            <a:ext cx="1428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Computer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79D8669-3AA0-4492-9CFD-41052A4C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1771650"/>
            <a:ext cx="4000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Endpoint / platform engineer
OS specialist · malware analyst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E252E8-D953-420B-AEE1-A52C6B5F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771650"/>
            <a:ext cx="45148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Hardened builds · patch baselines
endpoint controls · findings</a:t>
            </a:r>
          </a:p>
        </p:txBody>
      </p:sp>
      <p:sp>
        <p:nvSpPr>
          <p:cNvPr id="11" name="role-row-1">
            <a:extLst xmlns:a="http://schemas.openxmlformats.org/drawingml/2006/main">
              <a:ext uri="{FF2B5EF4-FFF2-40B4-BE49-F238E27FC236}">
                <a16:creationId xmlns:a16="http://schemas.microsoft.com/office/drawing/2014/main" id="{55B0FB66-4769-4187-9785-B4ED99303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86050"/>
            <a:ext cx="11029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F8FAF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F90456-88C3-4528-B742-B24C1E37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914650"/>
            <a:ext cx="1428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A1B15C-075A-414D-8756-2B017200B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2800350"/>
            <a:ext cx="4000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Security analyst · IAM specialist
network / cloud security engineer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B1442C-3AD6-4A68-A381-2BC6C8311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2800350"/>
            <a:ext cx="45148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Managed access · architecture
monitoring · backup · recovery</a:t>
            </a:r>
          </a:p>
        </p:txBody>
      </p:sp>
      <p:sp>
        <p:nvSpPr>
          <p:cNvPr id="15" name="role-row-2">
            <a:extLst xmlns:a="http://schemas.openxmlformats.org/drawingml/2006/main">
              <a:ext uri="{FF2B5EF4-FFF2-40B4-BE49-F238E27FC236}">
                <a16:creationId xmlns:a16="http://schemas.microsoft.com/office/drawing/2014/main" id="{9DB43178-26EE-49E1-B573-7771D1902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714750"/>
            <a:ext cx="11029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9525">
            <a:solidFill>
              <a:srgbClr val="EDEDE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2406BF1-7567-4FED-A6AA-A99DD92CA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943350"/>
            <a:ext cx="1428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Information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ECB7C7-4E6A-4969-85B1-431CFF19E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3829050"/>
            <a:ext cx="4000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Security manager · risk specialist
governance lead · asset owner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246782-4177-4174-923B-5B3EF0FD2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829050"/>
            <a:ext cx="45148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Classification · risk treatment
policy · assurance · audit evidence</a:t>
            </a:r>
          </a:p>
        </p:txBody>
      </p:sp>
      <p:sp>
        <p:nvSpPr>
          <p:cNvPr id="19" name="role-row-3">
            <a:extLst xmlns:a="http://schemas.openxmlformats.org/drawingml/2006/main">
              <a:ext uri="{FF2B5EF4-FFF2-40B4-BE49-F238E27FC236}">
                <a16:creationId xmlns:a16="http://schemas.microsoft.com/office/drawing/2014/main" id="{1F63A618-72D3-4A04-8C5E-05FD75D8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743450"/>
            <a:ext cx="110299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F8FAFC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C6ABA9-355D-4EE3-9C44-7D9480C0A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972050"/>
            <a:ext cx="14287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Cyber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3DB7D5B-6BEA-4402-B073-CED852473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857750"/>
            <a:ext cx="40005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SOC analyst · incident responder
threat intel · pentest · AppSec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25EA4C-27A8-4D4B-92D2-98F2F47B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4857750"/>
            <a:ext cx="451485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Threat-led defence · detection
containment · testing · improvement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8D08A14-01AC-412B-943C-A746EE92F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763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Small organisations may combine every duty in one IT role; larger organisations may split one duty across several teams.</a:t>
            </a:r>
          </a:p>
        </p:txBody>
      </p:sp>
    </p:spTree>
    <p:extLst>
      <p:ext uri="{BB962C8B-B14F-4D97-AF65-F5344CB8AC3E}">
        <p14:creationId xmlns:p14="http://schemas.microsoft.com/office/powerpoint/2010/main" val="179228604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title-6">
            <a:extLst xmlns:a="http://schemas.openxmlformats.org/drawingml/2006/main">
              <a:ext uri="{FF2B5EF4-FFF2-40B4-BE49-F238E27FC236}">
                <a16:creationId xmlns:a16="http://schemas.microsoft.com/office/drawing/2014/main" id="{01391FC0-4368-44F5-9A4A-E112A9393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One stolen credential creates four connected questions</a:t>
            </a:r>
          </a:p>
        </p:txBody>
      </p:sp>
      <p:sp>
        <p:nvSpPr>
          <p:cNvPr id="2" name="source-6">
            <a:extLst xmlns:a="http://schemas.openxmlformats.org/drawingml/2006/main">
              <a:ext uri="{FF2B5EF4-FFF2-40B4-BE49-F238E27FC236}">
                <a16:creationId xmlns:a16="http://schemas.microsoft.com/office/drawing/2014/main" id="{85CFA1CE-31FB-4C03-8E14-2C3541DA0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3" name="page-6">
            <a:extLst xmlns:a="http://schemas.openxmlformats.org/drawingml/2006/main">
              <a:ext uri="{FF2B5EF4-FFF2-40B4-BE49-F238E27FC236}">
                <a16:creationId xmlns:a16="http://schemas.microsoft.com/office/drawing/2014/main" id="{91C1BF5D-318C-421E-A2A6-78B8593BC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4D0500-8823-4FD4-90D1-05A584A6E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95400"/>
            <a:ext cx="105727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Scenario: a staff laptop is compromised through a stolen cloud credential.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3B53E4-DC08-4610-9DE6-9E059DAD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67050"/>
            <a:ext cx="9429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4E455D-A5ED-4361-815D-7979CE253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9622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ED6B37-77ED-442B-ADD1-A63E15C2A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622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BB5736-C557-431D-8E17-2C67BAAF3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9622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 w="0">
            <a:solidFill>
              <a:srgbClr val="0F172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1E487D-C93B-4438-86D0-2F8A2D0F4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6227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64A1E8-D605-4FA8-856B-A28B35867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19075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COMPUTER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04A6D0-DDAB-46E1-B218-6AB762C9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486150"/>
            <a:ext cx="22479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Was the endpoint patched, hardened and able to isolate activity?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E9DF2D-5F1A-4B08-A81A-DF5D300DD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9075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IT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A41E86C-ECAD-4B29-BB90-ACFDC3D8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486150"/>
            <a:ext cx="22479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How were the identity, device, network and cloud service administered?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6094D9-2B0B-4F8A-9026-CAF034624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9075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INFORMATION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31F387-47CF-4A32-B363-0971A6E9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86150"/>
            <a:ext cx="22479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Which records were exposed, how sensitive were they, and what duties follow?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D4BAB3-188C-4773-8975-3057502A0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2190750"/>
            <a:ext cx="1905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CYBER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78A235C-C345-4697-A2B4-4F790133D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486150"/>
            <a:ext cx="22479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What was the connected attack path, wider harm, containment and recovery?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EB3BB3-68E2-41B5-B23A-0C67112C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219700"/>
            <a:ext cx="1019175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Clear handoffs close the gaps: technical evidence → access revocation → impact assessment → coordinated containment and learning.</a:t>
            </a:r>
          </a:p>
        </p:txBody>
      </p:sp>
    </p:spTree>
    <p:extLst>
      <p:ext uri="{BB962C8B-B14F-4D97-AF65-F5344CB8AC3E}">
        <p14:creationId xmlns:p14="http://schemas.microsoft.com/office/powerpoint/2010/main" val="132899071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7">
            <a:extLst xmlns:a="http://schemas.openxmlformats.org/drawingml/2006/main">
              <a:ext uri="{FF2B5EF4-FFF2-40B4-BE49-F238E27FC236}">
                <a16:creationId xmlns:a16="http://schemas.microsoft.com/office/drawing/2014/main" id="{5B228F7F-31C0-419A-B60D-5A97E4BF0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The original instinct was useful; the diagnosis needed work</a:t>
            </a:r>
          </a:p>
        </p:txBody>
      </p:sp>
      <p:sp>
        <p:nvSpPr>
          <p:cNvPr id="2" name="source-7">
            <a:extLst xmlns:a="http://schemas.openxmlformats.org/drawingml/2006/main">
              <a:ext uri="{FF2B5EF4-FFF2-40B4-BE49-F238E27FC236}">
                <a16:creationId xmlns:a16="http://schemas.microsoft.com/office/drawing/2014/main" id="{9534A970-FEF8-4499-9FBF-4A258AD2C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3" name="page-7">
            <a:extLst xmlns:a="http://schemas.openxmlformats.org/drawingml/2006/main">
              <a:ext uri="{FF2B5EF4-FFF2-40B4-BE49-F238E27FC236}">
                <a16:creationId xmlns:a16="http://schemas.microsoft.com/office/drawing/2014/main" id="{26B0BD6D-77F5-4AD2-96C0-D26544EC3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C40C6F-BE93-4722-8912-D18C5725A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533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WHAT SURVIVED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CC94AF-C024-4FD3-AF4E-5D9FD4D91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257300"/>
            <a:ext cx="533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WHAT CHANGED</a:t>
            </a:r>
          </a:p>
        </p:txBody>
      </p:sp>
      <p:sp>
        <p:nvSpPr>
          <p:cNvPr id="6" name="survived">
            <a:extLst xmlns:a="http://schemas.openxmlformats.org/drawingml/2006/main">
              <a:ext uri="{FF2B5EF4-FFF2-40B4-BE49-F238E27FC236}">
                <a16:creationId xmlns:a16="http://schemas.microsoft.com/office/drawing/2014/main" id="{E42F838D-DB85-474F-A7E1-E15B1FF58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14500"/>
            <a:ext cx="5524500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F8FAFC"/>
            </a:solidFill>
            <a:prstDash val="solid"/>
          </a:ln>
        </p:spPr>
      </p:sp>
      <p:sp>
        <p:nvSpPr>
          <p:cNvPr id="7" name="changed">
            <a:extLst xmlns:a="http://schemas.openxmlformats.org/drawingml/2006/main">
              <a:ext uri="{FF2B5EF4-FFF2-40B4-BE49-F238E27FC236}">
                <a16:creationId xmlns:a16="http://schemas.microsoft.com/office/drawing/2014/main" id="{554DCEED-7B72-4E76-B2CE-B26A70E81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714500"/>
            <a:ext cx="5524500" cy="3733800"/>
          </a:xfrm>
          <a:prstGeom xmlns:a="http://schemas.openxmlformats.org/drawingml/2006/main" prst="roundRect">
            <a:avLst>
              <a:gd name="adj" fmla="val 2041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F8FAFC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EF90AE-013F-4E05-A1B2-65BDFB611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76450"/>
            <a:ext cx="4857750" cy="30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• Perfect security is not operational
• Public understanding matters
• Automation is necessary at scale
• Cybersecurity connects technology, organisations and society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BDF4FE9-63A1-4C8F-858A-8BD93EF44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76450"/>
            <a:ext cx="4857750" cy="3048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• Breaches do not prove defence is useless
• “Human error” is a system-design signal
• AI augments accountable professionals
• The original survey was exploratory, not representative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2077D2-E90D-4D6B-B939-53C5E968F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53100"/>
            <a:ext cx="2476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2020 submission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F8302F-13CC-44CF-B4FB-483B5CDA6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753100"/>
            <a:ext cx="2857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2026 critical edition</a:t>
            </a:r>
          </a:p>
        </p:txBody>
      </p:sp>
    </p:spTree>
    <p:extLst>
      <p:ext uri="{BB962C8B-B14F-4D97-AF65-F5344CB8AC3E}">
        <p14:creationId xmlns:p14="http://schemas.microsoft.com/office/powerpoint/2010/main" val="118200672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itle-8">
            <a:extLst xmlns:a="http://schemas.openxmlformats.org/drawingml/2006/main">
              <a:ext uri="{FF2B5EF4-FFF2-40B4-BE49-F238E27FC236}">
                <a16:creationId xmlns:a16="http://schemas.microsoft.com/office/drawing/2014/main" id="{4F2594C7-E4AA-4FEC-ADFE-C1F86B234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The real gap is adoption—not a binary score</a:t>
            </a:r>
          </a:p>
        </p:txBody>
      </p:sp>
      <p:sp>
        <p:nvSpPr>
          <p:cNvPr id="2" name="source-8">
            <a:extLst xmlns:a="http://schemas.openxmlformats.org/drawingml/2006/main">
              <a:ext uri="{FF2B5EF4-FFF2-40B4-BE49-F238E27FC236}">
                <a16:creationId xmlns:a16="http://schemas.microsoft.com/office/drawing/2014/main" id="{398120A3-2ED9-4DC4-90E3-FD3E8A9B6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DSIT &amp; Home Office, Cyber Security Breaches Survey 2025/2026; NCSC Annual Review 2025</a:t>
            </a:r>
          </a:p>
        </p:txBody>
      </p:sp>
      <p:sp>
        <p:nvSpPr>
          <p:cNvPr id="3" name="page-8">
            <a:extLst xmlns:a="http://schemas.openxmlformats.org/drawingml/2006/main">
              <a:ext uri="{FF2B5EF4-FFF2-40B4-BE49-F238E27FC236}">
                <a16:creationId xmlns:a16="http://schemas.microsoft.com/office/drawing/2014/main" id="{1DE51106-9B56-4E97-9A01-14F67ADF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69FBAF-D8BF-4D4F-A50F-0CE78DCA1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00150"/>
            <a:ext cx="106680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Exposure is widespread. Governance and preparation remain inconsistent.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CC1C66-B5F3-4866-A451-53C0E761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0764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E42AD-3C2F-4C5C-A5EF-16A905196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62200"/>
            <a:ext cx="1714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43%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D959B9-FA63-4EDC-B85B-A7CA2E10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2438400"/>
            <a:ext cx="3429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UK businesses identifying a breach or attack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2291C9-5CB6-49A8-8CA6-6C404F4F2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07645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F9ABA8-9CA0-4127-B8DA-93945526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62200"/>
            <a:ext cx="1714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204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37F4FF-787B-458C-B4DE-24A354ADC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438400"/>
            <a:ext cx="3429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nationally significant incidents handled by the NCSC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F5C91D-A899-498A-90BF-927C25F6C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8620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A79C38-4337-48E5-8EE9-4870B84B3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71950"/>
            <a:ext cx="1714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30%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9E4AD8-3CB8-4BAC-82B4-128E0B0F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248150"/>
            <a:ext cx="3429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businesses completing a cyber-risk assessment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BBE9C77-9F7D-4BC0-8150-0A5BB38A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86200"/>
            <a:ext cx="5295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B8581F-1150-440B-9610-40232B3BD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71950"/>
            <a:ext cx="1714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25%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2B4057-2C38-4CA4-814F-9862ACC4F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248150"/>
            <a:ext cx="3429000" cy="819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businesses with a formal incident-response plan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7E1312-01E4-43FF-84EB-EC6695B08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48350"/>
            <a:ext cx="1066800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Attack prevalence measures exposure and detection—not the absence of defensive value.</a:t>
            </a:r>
          </a:p>
        </p:txBody>
      </p:sp>
    </p:spTree>
    <p:extLst>
      <p:ext uri="{BB962C8B-B14F-4D97-AF65-F5344CB8AC3E}">
        <p14:creationId xmlns:p14="http://schemas.microsoft.com/office/powerpoint/2010/main" val="73471008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9">
            <a:extLst xmlns:a="http://schemas.openxmlformats.org/drawingml/2006/main">
              <a:ext uri="{FF2B5EF4-FFF2-40B4-BE49-F238E27FC236}">
                <a16:creationId xmlns:a16="http://schemas.microsoft.com/office/drawing/2014/main" id="{5C8D9DB0-8DD6-4B21-B4DB-1946FB0A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Nationally significant incidents rose sharply</a:t>
            </a:r>
          </a:p>
        </p:txBody>
      </p:sp>
      <p:sp>
        <p:nvSpPr>
          <p:cNvPr id="2" name="source-9">
            <a:extLst xmlns:a="http://schemas.openxmlformats.org/drawingml/2006/main">
              <a:ext uri="{FF2B5EF4-FFF2-40B4-BE49-F238E27FC236}">
                <a16:creationId xmlns:a16="http://schemas.microsoft.com/office/drawing/2014/main" id="{ABDB94D2-29DA-4CA2-8179-FB5428DD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NCSC Annual Review 2025. Categories and reporting are not a complete census.</a:t>
            </a:r>
          </a:p>
        </p:txBody>
      </p:sp>
      <p:sp>
        <p:nvSpPr>
          <p:cNvPr id="3" name="page-9">
            <a:extLst xmlns:a="http://schemas.openxmlformats.org/drawingml/2006/main">
              <a:ext uri="{FF2B5EF4-FFF2-40B4-BE49-F238E27FC236}">
                <a16:creationId xmlns:a16="http://schemas.microsoft.com/office/drawing/2014/main" id="{76C656A4-11D9-4F95-80A5-369CCE085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9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590550" y="1466850"/>
          <a:ext xmlns:a="http://schemas.openxmlformats.org/drawingml/2006/main" cx="6667500" cy="4095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1939d4acd3a4976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0AFA37-0388-43D6-ADC5-8B22D5B8B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52600"/>
            <a:ext cx="2952750" cy="1047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4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2.3×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41DEA2-B94B-4813-AF1F-9BB10EDB7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895600"/>
            <a:ext cx="3143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more nationally significant incidents handled than the previous year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3D1F10-45BF-4B49-8B51-0D393AD63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400550"/>
            <a:ext cx="3333750" cy="1200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Pressure increased—but the NCSC also states that many more attacks fail than succeed, and prepared organisations recover better.</a:t>
            </a:r>
          </a:p>
        </p:txBody>
      </p:sp>
    </p:spTree>
    <p:extLst>
      <p:ext uri="{BB962C8B-B14F-4D97-AF65-F5344CB8AC3E}">
        <p14:creationId xmlns:p14="http://schemas.microsoft.com/office/powerpoint/2010/main" val="21077473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title-10">
            <a:extLst xmlns:a="http://schemas.openxmlformats.org/drawingml/2006/main">
              <a:ext uri="{FF2B5EF4-FFF2-40B4-BE49-F238E27FC236}">
                <a16:creationId xmlns:a16="http://schemas.microsoft.com/office/drawing/2014/main" id="{01470746-AEC4-48DB-8E45-892EBD4F4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A mistake is a design signal—not the end of the analysis</a:t>
            </a:r>
          </a:p>
        </p:txBody>
      </p:sp>
      <p:sp>
        <p:nvSpPr>
          <p:cNvPr id="2" name="source-10">
            <a:extLst xmlns:a="http://schemas.openxmlformats.org/drawingml/2006/main">
              <a:ext uri="{FF2B5EF4-FFF2-40B4-BE49-F238E27FC236}">
                <a16:creationId xmlns:a16="http://schemas.microsoft.com/office/drawing/2014/main" id="{C9DFA85F-DF98-4E5A-9E9B-74E00EA04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NCSC secure-by-design guidance; Herley (2009)</a:t>
            </a:r>
          </a:p>
        </p:txBody>
      </p:sp>
      <p:sp>
        <p:nvSpPr>
          <p:cNvPr id="3" name="page-10">
            <a:extLst xmlns:a="http://schemas.openxmlformats.org/drawingml/2006/main">
              <a:ext uri="{FF2B5EF4-FFF2-40B4-BE49-F238E27FC236}">
                <a16:creationId xmlns:a16="http://schemas.microsoft.com/office/drawing/2014/main" id="{C502CFD6-BC47-46A2-8AA2-C1082FF52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E994BE-AECF-4351-ACDC-01962909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106680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If one ordinary action can create catastrophic harm, examine the architecture around it.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D2102A-D5BF-47F5-930E-D9677CD87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D008D5-C217-4E6C-96AE-1484D398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REDUCE PRIVILEGE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1F851B-6C30-46BD-9EF7-948CB6CC0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35280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One account should not expose everything.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92ACD24-856A-46EB-AAAD-6089CE58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1465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USE SAFER DEFAULTS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6939B3-B5D2-46F2-98C0-05122B48D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352800"/>
            <a:ext cx="23812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Strong authentication and secure setup should be the easy path.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8BE292-12B9-4644-A9B1-329CE754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91465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MAKE REPORTING SAFE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128D3E-9F91-43C6-8CD2-FD47C96F7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5280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Early honesty should reduce harm—not trigger fear.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75DD3F-BA7E-4F15-B46E-866CECDB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2914650"/>
            <a:ext cx="2381250" cy="285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DESIGN RECOVERY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5A3012-CC92-4852-ACA8-4EFB6E5B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35280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Contain failure and restore trusted operation.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BD3BB86-5ABE-4C90-B8B0-CA413A7FD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05400"/>
            <a:ext cx="108585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Training matters. It is not a patch for an unsafe product.</a:t>
            </a:r>
          </a:p>
        </p:txBody>
      </p:sp>
    </p:spTree>
    <p:extLst>
      <p:ext uri="{BB962C8B-B14F-4D97-AF65-F5344CB8AC3E}">
        <p14:creationId xmlns:p14="http://schemas.microsoft.com/office/powerpoint/2010/main" val="29728756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itle-11">
            <a:extLst xmlns:a="http://schemas.openxmlformats.org/drawingml/2006/main">
              <a:ext uri="{FF2B5EF4-FFF2-40B4-BE49-F238E27FC236}">
                <a16:creationId xmlns:a16="http://schemas.microsoft.com/office/drawing/2014/main" id="{8694E8F4-2453-4041-A069-A8F3BB3EA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AI changes both attack and defence—not accountability</a:t>
            </a:r>
          </a:p>
        </p:txBody>
      </p:sp>
      <p:sp>
        <p:nvSpPr>
          <p:cNvPr id="2" name="source-11">
            <a:extLst xmlns:a="http://schemas.openxmlformats.org/drawingml/2006/main">
              <a:ext uri="{FF2B5EF4-FFF2-40B4-BE49-F238E27FC236}">
                <a16:creationId xmlns:a16="http://schemas.microsoft.com/office/drawing/2014/main" id="{AB15A32C-5D93-42FC-9EF9-C79F79229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NIST AI RMF 1.0 and Generative AI Profile; NCSC ML security principles</a:t>
            </a:r>
          </a:p>
        </p:txBody>
      </p:sp>
      <p:sp>
        <p:nvSpPr>
          <p:cNvPr id="3" name="page-11">
            <a:extLst xmlns:a="http://schemas.openxmlformats.org/drawingml/2006/main">
              <a:ext uri="{FF2B5EF4-FFF2-40B4-BE49-F238E27FC236}">
                <a16:creationId xmlns:a16="http://schemas.microsoft.com/office/drawing/2014/main" id="{93A68C67-F084-47F5-B69D-D0B86F6B3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11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D6E8A3-D552-4D96-AAF0-D3DA02D0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57300"/>
            <a:ext cx="3238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DEFENCE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51C316-CF8E-478A-BD23-83A2FFEA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90700"/>
            <a:ext cx="3238500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Triage alerts
Inspect code
Summarise threat intelligence
Spot unusual patterns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EDA548-AF25-4EB3-871A-B27AA37E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257300"/>
            <a:ext cx="3238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ATTACK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033278-39D5-47CA-A128-EC6C2BB56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90700"/>
            <a:ext cx="3238500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Scale convincing content
Automate reconnaissance
Search for weaknesses
Accelerate intrusion steps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522B44-9F58-4B44-9595-116AA9E93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257300"/>
            <a:ext cx="32385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NEW SYSTEM RISK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92074C-12FD-4063-9690-36D69212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1790700"/>
            <a:ext cx="2857500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Training data
Model behaviour
Sensitive integrations
Over-trust in outputs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0F955CE-EBB2-42CA-A71A-677E26112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14800"/>
            <a:ext cx="1139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7BED0A-5400-40B0-8E0D-C7158FDD8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705350"/>
            <a:ext cx="990600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Accountable people use automation with evidence, audit trails, realistic testing and a way to challenge the result.</a:t>
            </a:r>
          </a:p>
        </p:txBody>
      </p:sp>
    </p:spTree>
    <p:extLst>
      <p:ext uri="{BB962C8B-B14F-4D97-AF65-F5344CB8AC3E}">
        <p14:creationId xmlns:p14="http://schemas.microsoft.com/office/powerpoint/2010/main" val="2013672487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itle-12">
            <a:extLst xmlns:a="http://schemas.openxmlformats.org/drawingml/2006/main">
              <a:ext uri="{FF2B5EF4-FFF2-40B4-BE49-F238E27FC236}">
                <a16:creationId xmlns:a16="http://schemas.microsoft.com/office/drawing/2014/main" id="{77126688-9CFE-44C5-85AA-E62009B4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Effective cybersecurity connects six continuous functions</a:t>
            </a:r>
          </a:p>
        </p:txBody>
      </p:sp>
      <p:sp>
        <p:nvSpPr>
          <p:cNvPr id="2" name="source-12">
            <a:extLst xmlns:a="http://schemas.openxmlformats.org/drawingml/2006/main">
              <a:ext uri="{FF2B5EF4-FFF2-40B4-BE49-F238E27FC236}">
                <a16:creationId xmlns:a16="http://schemas.microsoft.com/office/drawing/2014/main" id="{A21D3007-C16A-4963-B1D0-271CA44C7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NIST Cybersecurity Framework 2.0</a:t>
            </a:r>
          </a:p>
        </p:txBody>
      </p:sp>
      <p:sp>
        <p:nvSpPr>
          <p:cNvPr id="3" name="page-12">
            <a:extLst xmlns:a="http://schemas.openxmlformats.org/drawingml/2006/main">
              <a:ext uri="{FF2B5EF4-FFF2-40B4-BE49-F238E27FC236}">
                <a16:creationId xmlns:a16="http://schemas.microsoft.com/office/drawing/2014/main" id="{DB9C0B82-E5B2-412D-B29B-5706F66D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12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E7012D-217F-4454-BC48-090F9B183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solidFill>
              <a:srgbClr val="14B8A6"/>
            </a:solidFill>
            <a:prstDash val="solid"/>
          </a:ln>
        </p:spPr>
      </p:sp>
      <p:sp>
        <p:nvSpPr>
          <p:cNvPr id="5" name="function-label-0">
            <a:extLst xmlns:a="http://schemas.openxmlformats.org/drawingml/2006/main">
              <a:ext uri="{FF2B5EF4-FFF2-40B4-BE49-F238E27FC236}">
                <a16:creationId xmlns:a16="http://schemas.microsoft.com/office/drawing/2014/main" id="{EEC23E61-CD5C-4BA6-BCAD-2815CA5A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752600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GOVERN</a:t>
            </a:r>
          </a:p>
        </p:txBody>
      </p:sp>
      <p:sp>
        <p:nvSpPr>
          <p:cNvPr id="6" name="function-body-0">
            <a:extLst xmlns:a="http://schemas.openxmlformats.org/drawingml/2006/main">
              <a:ext uri="{FF2B5EF4-FFF2-40B4-BE49-F238E27FC236}">
                <a16:creationId xmlns:a16="http://schemas.microsoft.com/office/drawing/2014/main" id="{00436939-4959-4F0B-A10B-17403965D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4790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Own risk, priorities and suppliers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1DDBFB-AFA8-42B4-8397-315136FF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2875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function-label-1">
            <a:extLst xmlns:a="http://schemas.openxmlformats.org/drawingml/2006/main">
              <a:ext uri="{FF2B5EF4-FFF2-40B4-BE49-F238E27FC236}">
                <a16:creationId xmlns:a16="http://schemas.microsoft.com/office/drawing/2014/main" id="{6BC20FAD-8DF2-4C9F-8DFA-3A62FB3C5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762125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IDENTIFY</a:t>
            </a:r>
          </a:p>
        </p:txBody>
      </p:sp>
      <p:sp>
        <p:nvSpPr>
          <p:cNvPr id="9" name="function-body-1">
            <a:extLst xmlns:a="http://schemas.openxmlformats.org/drawingml/2006/main">
              <a:ext uri="{FF2B5EF4-FFF2-40B4-BE49-F238E27FC236}">
                <a16:creationId xmlns:a16="http://schemas.microsoft.com/office/drawing/2014/main" id="{E185801B-2C48-4363-BDFD-3EB15D274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224790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Know assets, dependencies and threats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9A50EFA-E3DE-41DB-8204-024E2FD76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2875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1" name="function-label-2">
            <a:extLst xmlns:a="http://schemas.openxmlformats.org/drawingml/2006/main">
              <a:ext uri="{FF2B5EF4-FFF2-40B4-BE49-F238E27FC236}">
                <a16:creationId xmlns:a16="http://schemas.microsoft.com/office/drawing/2014/main" id="{D046C0DB-C76B-42F2-BDC8-6F1DCB734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71650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PROTECT</a:t>
            </a:r>
          </a:p>
        </p:txBody>
      </p:sp>
      <p:sp>
        <p:nvSpPr>
          <p:cNvPr id="12" name="function-body-2">
            <a:extLst xmlns:a="http://schemas.openxmlformats.org/drawingml/2006/main">
              <a:ext uri="{FF2B5EF4-FFF2-40B4-BE49-F238E27FC236}">
                <a16:creationId xmlns:a16="http://schemas.microsoft.com/office/drawing/2014/main" id="{86F7EF1D-1B91-41CC-BC68-83CA0A07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24790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Reduce likely harm with usable controls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9DE110-44AC-4593-9009-1E04E541E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52425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4" name="function-label-3">
            <a:extLst xmlns:a="http://schemas.openxmlformats.org/drawingml/2006/main">
              <a:ext uri="{FF2B5EF4-FFF2-40B4-BE49-F238E27FC236}">
                <a16:creationId xmlns:a16="http://schemas.microsoft.com/office/drawing/2014/main" id="{E94211C0-852E-49F0-BFC3-1D8AF5AB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48100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DETECT</a:t>
            </a:r>
          </a:p>
        </p:txBody>
      </p:sp>
      <p:sp>
        <p:nvSpPr>
          <p:cNvPr id="15" name="function-body-3">
            <a:extLst xmlns:a="http://schemas.openxmlformats.org/drawingml/2006/main">
              <a:ext uri="{FF2B5EF4-FFF2-40B4-BE49-F238E27FC236}">
                <a16:creationId xmlns:a16="http://schemas.microsoft.com/office/drawing/2014/main" id="{F3BA82E6-DD98-43C2-8160-70D8CEA5D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4340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Know when something changes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FBFDEF-99AE-430E-A921-42253D451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52425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7" name="function-label-4">
            <a:extLst xmlns:a="http://schemas.openxmlformats.org/drawingml/2006/main">
              <a:ext uri="{FF2B5EF4-FFF2-40B4-BE49-F238E27FC236}">
                <a16:creationId xmlns:a16="http://schemas.microsoft.com/office/drawing/2014/main" id="{F6E23BD3-B2F0-4D13-97FE-7F15F863B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3857625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RESPOND</a:t>
            </a:r>
          </a:p>
        </p:txBody>
      </p:sp>
      <p:sp>
        <p:nvSpPr>
          <p:cNvPr id="18" name="function-body-4">
            <a:extLst xmlns:a="http://schemas.openxmlformats.org/drawingml/2006/main">
              <a:ext uri="{FF2B5EF4-FFF2-40B4-BE49-F238E27FC236}">
                <a16:creationId xmlns:a16="http://schemas.microsoft.com/office/drawing/2014/main" id="{BFD1B2D9-59DF-4F3F-8669-DAFEDAEB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4340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Contain, decide and communicate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789C24-21F6-4064-ACE9-FCADA6E88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24250"/>
            <a:ext cx="3238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20" name="function-label-5">
            <a:extLst xmlns:a="http://schemas.openxmlformats.org/drawingml/2006/main">
              <a:ext uri="{FF2B5EF4-FFF2-40B4-BE49-F238E27FC236}">
                <a16:creationId xmlns:a16="http://schemas.microsoft.com/office/drawing/2014/main" id="{5A535438-371C-41A6-94AB-82B78F7EE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867150"/>
            <a:ext cx="3238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RECOVER</a:t>
            </a:r>
          </a:p>
        </p:txBody>
      </p:sp>
      <p:sp>
        <p:nvSpPr>
          <p:cNvPr id="21" name="function-body-5">
            <a:extLst xmlns:a="http://schemas.openxmlformats.org/drawingml/2006/main">
              <a:ext uri="{FF2B5EF4-FFF2-40B4-BE49-F238E27FC236}">
                <a16:creationId xmlns:a16="http://schemas.microsoft.com/office/drawing/2014/main" id="{64AF12DC-E5F5-4990-8F2F-EC66F0A2D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343400"/>
            <a:ext cx="323850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Restore trusted service and learn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8A6849D-35F6-4234-935E-B6B0014B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9750"/>
            <a:ext cx="104775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The test is not whether a control exists. It is whether people can use it, failure is contained, and the organisation can demonstrate that it works.</a:t>
            </a:r>
          </a:p>
        </p:txBody>
      </p:sp>
    </p:spTree>
    <p:extLst>
      <p:ext uri="{BB962C8B-B14F-4D97-AF65-F5344CB8AC3E}">
        <p14:creationId xmlns:p14="http://schemas.microsoft.com/office/powerpoint/2010/main" val="186490881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itle-13">
            <a:extLst xmlns:a="http://schemas.openxmlformats.org/drawingml/2006/main">
              <a:ext uri="{FF2B5EF4-FFF2-40B4-BE49-F238E27FC236}">
                <a16:creationId xmlns:a16="http://schemas.microsoft.com/office/drawing/2014/main" id="{3387035D-70AA-45B5-A0D8-BECA728B4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42900"/>
            <a:ext cx="113919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The research became a safer decision workflow</a:t>
            </a:r>
          </a:p>
        </p:txBody>
      </p:sp>
      <p:sp>
        <p:nvSpPr>
          <p:cNvPr id="2" name="source-13">
            <a:extLst xmlns:a="http://schemas.openxmlformats.org/drawingml/2006/main">
              <a:ext uri="{FF2B5EF4-FFF2-40B4-BE49-F238E27FC236}">
                <a16:creationId xmlns:a16="http://schemas.microsoft.com/office/drawing/2014/main" id="{EC0F0D2A-968B-4F0C-9AD7-F085BBE9F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3" name="page-13">
            <a:extLst xmlns:a="http://schemas.openxmlformats.org/drawingml/2006/main">
              <a:ext uri="{FF2B5EF4-FFF2-40B4-BE49-F238E27FC236}">
                <a16:creationId xmlns:a16="http://schemas.microsoft.com/office/drawing/2014/main" id="{525F2788-39C5-44F6-8587-C6CD5D3F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13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B0C7B7-CD9A-4A6D-B920-A31A24626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38250"/>
            <a:ext cx="46672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The Device Provisioning Toolkit does not certify perfect safety.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D65FCA-CC5D-4DB6-9F96-ED2DABA1C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152650"/>
            <a:ext cx="466725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It discovers devices, compares relevant security signals and produces a tailored hardening guide—turning evidence into a repeatable, auditable next action.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6D7523-A4CF-48AA-8BF8-E8169F9D4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8630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EPQ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AE4964-32F7-4554-9E83-7F0D0FD41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86350"/>
            <a:ext cx="17907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Security is never finished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D6A976-CAD8-4B64-BD00-D4FCE79E6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686300"/>
            <a:ext cx="17145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UNDERGRADUATE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2A2AF7-EDCD-4C3E-97AC-673A0368B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86350"/>
            <a:ext cx="200025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Device choices need clearer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78BC0C-11C9-4655-ADB9-D34647B51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86300"/>
            <a:ext cx="11430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PRODUCT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9B78E7-99E8-43D9-9602-BE2790ED3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086350"/>
            <a:ext cx="17145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Make the safer action easier</a:t>
            </a:r>
          </a:p>
        </p:txBody>
      </p:sp>
      <p:sp>
        <p:nvSpPr>
          <p:cNvPr id="12" name="home-frame">
            <a:extLst xmlns:a="http://schemas.openxmlformats.org/drawingml/2006/main">
              <a:ext uri="{FF2B5EF4-FFF2-40B4-BE49-F238E27FC236}">
                <a16:creationId xmlns:a16="http://schemas.microsoft.com/office/drawing/2014/main" id="{18708451-8005-4616-A950-7F86074C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219200"/>
            <a:ext cx="2266950" cy="45720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sp>
        <p:nvSpPr>
          <p:cNvPr id="13" name="guide-frame">
            <a:extLst xmlns:a="http://schemas.openxmlformats.org/drawingml/2006/main">
              <a:ext uri="{FF2B5EF4-FFF2-40B4-BE49-F238E27FC236}">
                <a16:creationId xmlns:a16="http://schemas.microsoft.com/office/drawing/2014/main" id="{3C29F344-12A9-4C6F-9043-7D932C6CA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1219200"/>
            <a:ext cx="2266950" cy="4572000"/>
          </a:xfrm>
          <a:prstGeom xmlns:a="http://schemas.openxmlformats.org/drawingml/2006/main" prst="roundRect">
            <a:avLst>
              <a:gd name="adj" fmla="val 3361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F1F5F9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1a85fd84c04427"/>
          <a:stretch xmlns:a="http://schemas.openxmlformats.org/drawingml/2006/main"/>
        </p:blipFill>
        <p:spPr>
          <a:xfrm xmlns:a="http://schemas.openxmlformats.org/drawingml/2006/main">
            <a:off x="6591300" y="1683242"/>
            <a:ext cx="2038350" cy="3624866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61bae263814d83"/>
          <a:stretch xmlns:a="http://schemas.openxmlformats.org/drawingml/2006/main"/>
        </p:blipFill>
        <p:spPr>
          <a:xfrm xmlns:a="http://schemas.openxmlformats.org/drawingml/2006/main">
            <a:off x="9277350" y="1568585"/>
            <a:ext cx="2038350" cy="385418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750709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33B384-37A3-4973-B09C-FA75EB8EE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0050"/>
            <a:ext cx="28575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0F766E"/>
                </a:solidFill>
                <a:latin typeface="Helvetica Neue"/>
                <a:ea typeface="Helvetica Neue"/>
                <a:cs typeface="Helvetica Neue"/>
              </a:defRPr>
            </a:pPr>
            <a:r>
              <a:t>THE 2026 ANSWER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626EAC-18EA-49A5-AB8F-FF75636EF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0200"/>
            <a:ext cx="10287000" cy="2476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F172A"/>
                </a:solidFill>
                <a:latin typeface="Helvetica Neue"/>
                <a:ea typeface="Helvetica Neue"/>
                <a:cs typeface="Helvetica Neue"/>
              </a:defRPr>
            </a:pPr>
            <a:r>
              <a:t>Cybersecurity can keep pace—when it is continuous, governed, usable and designed for recovery.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4A716A-02DE-458A-A390-B35DFA92A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62550"/>
            <a:ext cx="685800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Next: “How do we decide what we provide?” and the Device Provisioning Toolkit</a:t>
            </a:r>
          </a:p>
        </p:txBody>
      </p:sp>
      <p:sp>
        <p:nvSpPr>
          <p:cNvPr id="4" name="source-14">
            <a:extLst xmlns:a="http://schemas.openxmlformats.org/drawingml/2006/main">
              <a:ext uri="{FF2B5EF4-FFF2-40B4-BE49-F238E27FC236}">
                <a16:creationId xmlns:a16="http://schemas.microsoft.com/office/drawing/2014/main" id="{8A0CAB2C-FFEA-48EA-837C-53582FDB7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05550"/>
            <a:ext cx="102870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/>
            </a:r>
          </a:p>
        </p:txBody>
      </p:sp>
      <p:sp>
        <p:nvSpPr>
          <p:cNvPr id="5" name="page-14">
            <a:extLst xmlns:a="http://schemas.openxmlformats.org/drawingml/2006/main">
              <a:ext uri="{FF2B5EF4-FFF2-40B4-BE49-F238E27FC236}">
                <a16:creationId xmlns:a16="http://schemas.microsoft.com/office/drawing/2014/main" id="{71731B7E-4DBD-401D-BB45-5A572FC6A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267450"/>
            <a:ext cx="5143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475569"/>
                </a:solidFill>
                <a:latin typeface="Helvetica Neue"/>
                <a:ea typeface="Helvetica Neue"/>
                <a:cs typeface="Helvetica Neue"/>
              </a:defRPr>
            </a:pPr>
            <a: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2633984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Nathan Brown-Bennett</dc:creator>
  <cp:lastModifiedBy>Nathan Brown-Bennett</cp:lastModifiedBy>
  <dc:title>Can cybersecurity keep pace with modern digital risk?</dc:title>
  <dcterms:created xsi:type="dcterms:W3CDTF">2026-07-19T14:41:52.5370000Z</dcterms:created>
  <dcterms:modified xsi:type="dcterms:W3CDTF">2026-07-19T14:41:52.5370000Z</dcterms:modified>
</cp:coreProperties>
</file>